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82"/>
  </p:notesMasterIdLst>
  <p:sldIdLst>
    <p:sldId id="256" r:id="rId2"/>
    <p:sldId id="295" r:id="rId3"/>
    <p:sldId id="265" r:id="rId4"/>
    <p:sldId id="346" r:id="rId5"/>
    <p:sldId id="263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361" r:id="rId21"/>
    <p:sldId id="362" r:id="rId22"/>
    <p:sldId id="363" r:id="rId23"/>
    <p:sldId id="364" r:id="rId24"/>
    <p:sldId id="365" r:id="rId25"/>
    <p:sldId id="366" r:id="rId26"/>
    <p:sldId id="368" r:id="rId27"/>
    <p:sldId id="367" r:id="rId28"/>
    <p:sldId id="369" r:id="rId29"/>
    <p:sldId id="370" r:id="rId30"/>
    <p:sldId id="373" r:id="rId31"/>
    <p:sldId id="374" r:id="rId32"/>
    <p:sldId id="375" r:id="rId33"/>
    <p:sldId id="372" r:id="rId34"/>
    <p:sldId id="376" r:id="rId35"/>
    <p:sldId id="345" r:id="rId36"/>
    <p:sldId id="294" r:id="rId37"/>
    <p:sldId id="298" r:id="rId38"/>
    <p:sldId id="300" r:id="rId39"/>
    <p:sldId id="301" r:id="rId40"/>
    <p:sldId id="302" r:id="rId41"/>
    <p:sldId id="303" r:id="rId42"/>
    <p:sldId id="304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318" r:id="rId56"/>
    <p:sldId id="319" r:id="rId57"/>
    <p:sldId id="320" r:id="rId58"/>
    <p:sldId id="322" r:id="rId59"/>
    <p:sldId id="323" r:id="rId60"/>
    <p:sldId id="324" r:id="rId61"/>
    <p:sldId id="325" r:id="rId62"/>
    <p:sldId id="326" r:id="rId63"/>
    <p:sldId id="327" r:id="rId64"/>
    <p:sldId id="328" r:id="rId65"/>
    <p:sldId id="329" r:id="rId66"/>
    <p:sldId id="330" r:id="rId67"/>
    <p:sldId id="332" r:id="rId68"/>
    <p:sldId id="331" r:id="rId69"/>
    <p:sldId id="333" r:id="rId70"/>
    <p:sldId id="334" r:id="rId71"/>
    <p:sldId id="335" r:id="rId72"/>
    <p:sldId id="336" r:id="rId73"/>
    <p:sldId id="337" r:id="rId74"/>
    <p:sldId id="338" r:id="rId75"/>
    <p:sldId id="339" r:id="rId76"/>
    <p:sldId id="340" r:id="rId77"/>
    <p:sldId id="341" r:id="rId78"/>
    <p:sldId id="342" r:id="rId79"/>
    <p:sldId id="343" r:id="rId80"/>
    <p:sldId id="344" r:id="rId81"/>
  </p:sldIdLst>
  <p:sldSz cx="9144000" cy="5143500" type="screen16x9"/>
  <p:notesSz cx="6858000" cy="9144000"/>
  <p:embeddedFontLst>
    <p:embeddedFont>
      <p:font typeface="Lato" panose="020F0502020204030203" pitchFamily="34" charset="0"/>
      <p:regular r:id="rId83"/>
      <p:bold r:id="rId84"/>
      <p:italic r:id="rId85"/>
      <p:boldItalic r:id="rId86"/>
    </p:embeddedFont>
    <p:embeddedFont>
      <p:font typeface="Montserrat" panose="00000500000000000000" pitchFamily="2" charset="0"/>
      <p:regular r:id="rId87"/>
      <p:bold r:id="rId88"/>
      <p:italic r:id="rId89"/>
      <p:boldItalic r:id="rId90"/>
    </p:embeddedFont>
    <p:embeddedFont>
      <p:font typeface="Raleway" panose="020B0503030101060003" pitchFamily="34" charset="0"/>
      <p:regular r:id="rId91"/>
      <p:bold r:id="rId92"/>
      <p:italic r:id="rId93"/>
      <p:boldItalic r:id="rId94"/>
    </p:embeddedFont>
    <p:embeddedFont>
      <p:font typeface="Segoe UI Emoji" panose="020B0502040204020203" pitchFamily="34" charset="0"/>
      <p:regular r:id="rId9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BD36DF-DFCD-4F53-A505-A74899B71CE4}" v="60" dt="2022-03-13T16:30:33.480"/>
  </p1510:revLst>
</p1510:revInfo>
</file>

<file path=ppt/tableStyles.xml><?xml version="1.0" encoding="utf-8"?>
<a:tblStyleLst xmlns:a="http://schemas.openxmlformats.org/drawingml/2006/main" def="{C98665B7-6574-423E-A4B5-A6C020D860FF}">
  <a:tblStyle styleId="{C98665B7-6574-423E-A4B5-A6C020D860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A8698C-63BC-4B6A-AE92-7E62379B444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20" autoAdjust="0"/>
  </p:normalViewPr>
  <p:slideViewPr>
    <p:cSldViewPr snapToGrid="0">
      <p:cViewPr varScale="1">
        <p:scale>
          <a:sx n="102" d="100"/>
          <a:sy n="102" d="100"/>
        </p:scale>
        <p:origin x="8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2.fntdata"/><Relationship Id="rId89" Type="http://schemas.openxmlformats.org/officeDocument/2006/relationships/font" Target="fonts/font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8.fntdata"/><Relationship Id="rId95" Type="http://schemas.openxmlformats.org/officeDocument/2006/relationships/font" Target="fonts/font13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1.fntdata"/><Relationship Id="rId88" Type="http://schemas.openxmlformats.org/officeDocument/2006/relationships/font" Target="fonts/font6.fntdata"/><Relationship Id="rId91" Type="http://schemas.openxmlformats.org/officeDocument/2006/relationships/font" Target="fonts/font9.fntdata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4.fntdata"/><Relationship Id="rId94" Type="http://schemas.openxmlformats.org/officeDocument/2006/relationships/font" Target="fonts/font12.fntdata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5.fntdata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1.fntdata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785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639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3498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4431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52609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763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175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486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6442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715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5865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76375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2312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797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5708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12513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24176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38756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3195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31330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95365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86882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85389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41761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60466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47748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59339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16103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94614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1615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66166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4401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613746237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613746237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01349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2966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83869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43578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0733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5238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74749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06031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88172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844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70025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5696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690170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209373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1087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171409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31616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25218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00471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65492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979528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097610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931450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41183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87954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723235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776737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993982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01173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887461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175131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87435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234712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393678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61125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310571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243256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606050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43494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279840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404844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173461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55060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975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45225" y="2762725"/>
            <a:ext cx="67365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938246" y="2533163"/>
            <a:ext cx="7218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659861" y="2533163"/>
            <a:ext cx="7218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1" y="2533163"/>
            <a:ext cx="7218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1425" y="2533163"/>
            <a:ext cx="52167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399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047704" y="3992850"/>
            <a:ext cx="3047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096271" y="3992850"/>
            <a:ext cx="3047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" y="3992850"/>
            <a:ext cx="3047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SzPts val="2400"/>
              <a:buChar char="▷"/>
              <a:defRPr i="1"/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9pPr>
          </a:lstStyle>
          <a:p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3593400" y="1181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chemeClr val="accent6"/>
                </a:solidFill>
              </a:rPr>
              <a:t>“</a:t>
            </a:r>
            <a:endParaRPr sz="9600" b="1">
              <a:solidFill>
                <a:schemeClr val="accent6"/>
              </a:solidFill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723283" y="1599675"/>
            <a:ext cx="17103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434177" y="1599675"/>
            <a:ext cx="17103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0" y="1599675"/>
            <a:ext cx="17103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710425" y="1599675"/>
            <a:ext cx="17103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▷"/>
              <a:defRPr>
                <a:solidFill>
                  <a:schemeClr val="dk1"/>
                </a:solidFill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893625" y="1200150"/>
            <a:ext cx="3136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219456" y="1200150"/>
            <a:ext cx="3136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 background">
  <p:cSld name="BLANK_1">
    <p:bg>
      <p:bgPr>
        <a:solidFill>
          <a:schemeClr val="accen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▷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6" r:id="rId6"/>
    <p:sldLayoutId id="2147483657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?utm_source=template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3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>
            <a:spLocks noGrp="1"/>
          </p:cNvSpPr>
          <p:nvPr>
            <p:ph type="ctrTitle"/>
          </p:nvPr>
        </p:nvSpPr>
        <p:spPr>
          <a:xfrm>
            <a:off x="645225" y="2762725"/>
            <a:ext cx="67365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Clean Coding Principles Continued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chemeClr val="accent2"/>
                </a:solidFill>
              </a:rPr>
              <a:t>5.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Objects &amp; Data Structures</a:t>
            </a:r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Ref: Clean Code – Robert C. Martin</a:t>
            </a:r>
            <a:br>
              <a:rPr lang="en" sz="2000" dirty="0"/>
            </a:br>
            <a:r>
              <a:rPr lang="en" sz="2000" dirty="0"/>
              <a:t>Chapter 6</a:t>
            </a:r>
            <a:endParaRPr sz="2000" dirty="0"/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1245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893700" y="978844"/>
            <a:ext cx="3094800" cy="65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Data Abstraction</a:t>
            </a:r>
            <a:endParaRPr sz="2400" dirty="0"/>
          </a:p>
        </p:txBody>
      </p:sp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>
            <a:off x="893700" y="1771650"/>
            <a:ext cx="3094800" cy="16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Hiding implementation is not just a matter of putting a layer of functions between variables</a:t>
            </a:r>
            <a:endParaRPr sz="1800" dirty="0"/>
          </a:p>
        </p:txBody>
      </p:sp>
      <p:sp>
        <p:nvSpPr>
          <p:cNvPr id="164" name="Google Shape;164;p21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6EA343-E4A1-4CD9-B4C2-17961FC27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616" y="872342"/>
            <a:ext cx="2850127" cy="33988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Abstraction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692737" y="2102580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202994" y="2121807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6702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A class should expose abstract interfaces that allow its users to manipulate the “essence” of data without having to know the implementation details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D69C72-3A4A-4A0E-AA16-CD51F0275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087" r="46091"/>
          <a:stretch/>
        </p:blipFill>
        <p:spPr>
          <a:xfrm>
            <a:off x="166265" y="3161659"/>
            <a:ext cx="3664518" cy="821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2CA20D-7EBC-42BD-A217-B785B0400F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4695"/>
          <a:stretch/>
        </p:blipFill>
        <p:spPr>
          <a:xfrm>
            <a:off x="5029812" y="3161659"/>
            <a:ext cx="3353091" cy="63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14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body" idx="1"/>
          </p:nvPr>
        </p:nvSpPr>
        <p:spPr>
          <a:xfrm>
            <a:off x="893625" y="1714500"/>
            <a:ext cx="313680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dirty="0"/>
              <a:t>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Hide their data behind abstractions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Expose functions that operate on data</a:t>
            </a:r>
            <a:endParaRPr sz="1400" dirty="0"/>
          </a:p>
        </p:txBody>
      </p:sp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893700" y="72033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Objects vs. Data Structures</a:t>
            </a:r>
            <a:endParaRPr dirty="0"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2"/>
          </p:nvPr>
        </p:nvSpPr>
        <p:spPr>
          <a:xfrm>
            <a:off x="4219453" y="1714500"/>
            <a:ext cx="313680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dirty="0"/>
              <a:t>Data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Expose their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Have no meaningful functions</a:t>
            </a:r>
            <a:endParaRPr sz="1400" dirty="0"/>
          </a:p>
        </p:txBody>
      </p:sp>
      <p:sp>
        <p:nvSpPr>
          <p:cNvPr id="147" name="Google Shape;147;p19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893700" y="2675"/>
            <a:ext cx="1903532" cy="17963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ctrTitle" idx="4294967295"/>
          </p:nvPr>
        </p:nvSpPr>
        <p:spPr>
          <a:xfrm>
            <a:off x="778225" y="1889499"/>
            <a:ext cx="6623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lt1"/>
                </a:solidFill>
              </a:rPr>
              <a:t>Exercise</a:t>
            </a:r>
            <a:endParaRPr sz="7200" dirty="0">
              <a:solidFill>
                <a:schemeClr val="lt1"/>
              </a:solidFill>
            </a:endParaRPr>
          </a:p>
        </p:txBody>
      </p:sp>
      <p:sp>
        <p:nvSpPr>
          <p:cNvPr id="133" name="Google Shape;133;p18"/>
          <p:cNvSpPr txBox="1">
            <a:spLocks noGrp="1"/>
          </p:cNvSpPr>
          <p:nvPr>
            <p:ph type="subTitle" idx="4294967295"/>
          </p:nvPr>
        </p:nvSpPr>
        <p:spPr>
          <a:xfrm>
            <a:off x="778225" y="3049299"/>
            <a:ext cx="6623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/>
            <a:r>
              <a:rPr lang="en-US" sz="1600" dirty="0">
                <a:solidFill>
                  <a:schemeClr val="lt1"/>
                </a:solidFill>
              </a:rPr>
              <a:t>Download and open “In-class Exercise  Week 3” codebase</a:t>
            </a:r>
          </a:p>
          <a:p>
            <a:pPr marL="800100" lvl="1" indent="-342900"/>
            <a:r>
              <a:rPr lang="en-US" sz="1600" dirty="0">
                <a:solidFill>
                  <a:schemeClr val="lt1"/>
                </a:solidFill>
              </a:rPr>
              <a:t>Follow instructions in zNotes.txt</a:t>
            </a:r>
          </a:p>
        </p:txBody>
      </p:sp>
      <p:grpSp>
        <p:nvGrpSpPr>
          <p:cNvPr id="134" name="Google Shape;134;p18"/>
          <p:cNvGrpSpPr/>
          <p:nvPr/>
        </p:nvGrpSpPr>
        <p:grpSpPr>
          <a:xfrm>
            <a:off x="1276606" y="336278"/>
            <a:ext cx="1140633" cy="1113381"/>
            <a:chOff x="570875" y="4322250"/>
            <a:chExt cx="443300" cy="443325"/>
          </a:xfrm>
        </p:grpSpPr>
        <p:sp>
          <p:nvSpPr>
            <p:cNvPr id="135" name="Google Shape;135;p18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5775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body" idx="1"/>
          </p:nvPr>
        </p:nvSpPr>
        <p:spPr>
          <a:xfrm>
            <a:off x="893625" y="1714500"/>
            <a:ext cx="313680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dirty="0"/>
              <a:t>Object Oriented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Easy to add new classes without changing existing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Hard to add new functions because all the classes must change</a:t>
            </a:r>
          </a:p>
        </p:txBody>
      </p:sp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893700" y="72033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Objects </a:t>
            </a:r>
            <a:r>
              <a:rPr lang="en" sz="1400" dirty="0"/>
              <a:t>(OOP)</a:t>
            </a:r>
            <a:r>
              <a:rPr lang="en" sz="2800" dirty="0"/>
              <a:t> vs. Data Structures </a:t>
            </a:r>
            <a:r>
              <a:rPr lang="en" sz="900" dirty="0"/>
              <a:t>(Procedural)</a:t>
            </a:r>
            <a:endParaRPr sz="2800" dirty="0"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2"/>
          </p:nvPr>
        </p:nvSpPr>
        <p:spPr>
          <a:xfrm>
            <a:off x="4219453" y="1714500"/>
            <a:ext cx="313680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dirty="0"/>
              <a:t>Procedural Code </a:t>
            </a:r>
            <a:r>
              <a:rPr lang="en-US" sz="1100" b="1" dirty="0"/>
              <a:t>(Using Data Structures)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Easy to add functions without changing existing data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Hard to add new data structures because all the functions must change</a:t>
            </a:r>
          </a:p>
        </p:txBody>
      </p:sp>
      <p:sp>
        <p:nvSpPr>
          <p:cNvPr id="147" name="Google Shape;147;p19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6" name="Google Shape;144;p19">
            <a:extLst>
              <a:ext uri="{FF2B5EF4-FFF2-40B4-BE49-F238E27FC236}">
                <a16:creationId xmlns:a16="http://schemas.microsoft.com/office/drawing/2014/main" id="{EF875752-10BC-4397-B9B5-442B7C673C08}"/>
              </a:ext>
            </a:extLst>
          </p:cNvPr>
          <p:cNvSpPr txBox="1">
            <a:spLocks/>
          </p:cNvSpPr>
          <p:nvPr/>
        </p:nvSpPr>
        <p:spPr>
          <a:xfrm>
            <a:off x="1925479" y="3997602"/>
            <a:ext cx="4587947" cy="699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None/>
            </a:pPr>
            <a:r>
              <a:rPr lang="en-US" sz="1400" dirty="0"/>
              <a:t>Things that are hard for OO are easy for procedures</a:t>
            </a:r>
            <a:br>
              <a:rPr lang="en-US" sz="1400" dirty="0"/>
            </a:br>
            <a:r>
              <a:rPr lang="en-US" sz="1400" dirty="0"/>
              <a:t>Things that are hard for procedures are easy for OO</a:t>
            </a:r>
          </a:p>
        </p:txBody>
      </p:sp>
    </p:spTree>
    <p:extLst>
      <p:ext uri="{BB962C8B-B14F-4D97-AF65-F5344CB8AC3E}">
        <p14:creationId xmlns:p14="http://schemas.microsoft.com/office/powerpoint/2010/main" val="2511304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893700" y="72033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Objects </a:t>
            </a:r>
            <a:r>
              <a:rPr lang="en" sz="1400" dirty="0"/>
              <a:t>(OOP)</a:t>
            </a:r>
            <a:r>
              <a:rPr lang="en" sz="2800" dirty="0"/>
              <a:t> vs. Data Structures </a:t>
            </a:r>
            <a:r>
              <a:rPr lang="en" sz="900" dirty="0"/>
              <a:t>(Procedural)</a:t>
            </a:r>
            <a:endParaRPr sz="2800" dirty="0"/>
          </a:p>
        </p:txBody>
      </p:sp>
      <p:sp>
        <p:nvSpPr>
          <p:cNvPr id="147" name="Google Shape;147;p19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6" name="Google Shape;144;p19">
            <a:extLst>
              <a:ext uri="{FF2B5EF4-FFF2-40B4-BE49-F238E27FC236}">
                <a16:creationId xmlns:a16="http://schemas.microsoft.com/office/drawing/2014/main" id="{EF875752-10BC-4397-B9B5-442B7C673C08}"/>
              </a:ext>
            </a:extLst>
          </p:cNvPr>
          <p:cNvSpPr txBox="1">
            <a:spLocks/>
          </p:cNvSpPr>
          <p:nvPr/>
        </p:nvSpPr>
        <p:spPr>
          <a:xfrm>
            <a:off x="893700" y="1718529"/>
            <a:ext cx="5410118" cy="1384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None/>
            </a:pPr>
            <a:r>
              <a:rPr lang="en-US" sz="1400" dirty="0"/>
              <a:t>Not everything is an object!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/>
              <a:t>Sometimes</a:t>
            </a:r>
            <a:r>
              <a:rPr lang="en-US" sz="1400" dirty="0"/>
              <a:t> you really do want simple data structures with procedures operating on them.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Know whether you need protection from functions or types, do not create hybrid “object/data-</a:t>
            </a:r>
            <a:r>
              <a:rPr lang="en-US" sz="1400" dirty="0" err="1"/>
              <a:t>structure”s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7997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Data Transfer Objects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7627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Perfect example of data structures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Class with public variables and no functions</a:t>
            </a:r>
          </a:p>
          <a:p>
            <a:pPr lvl="1" indent="-342900">
              <a:spcBef>
                <a:spcPts val="6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Just to stay consistent with OO we use getter and setter functions with private variables, but they don’t provide any benefit</a:t>
            </a:r>
          </a:p>
          <a:p>
            <a:pPr indent="-342900"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Used when:</a:t>
            </a:r>
          </a:p>
          <a:p>
            <a:pPr lvl="1" indent="-342900"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Communicating with DBs</a:t>
            </a:r>
          </a:p>
          <a:p>
            <a:pPr lvl="1" indent="-342900"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Parsing messages from external systems HTTP messages, Socket messages etc.</a:t>
            </a:r>
            <a:endParaRPr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E5B8A-EB4B-4A36-A0CB-13A4B4776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00" y="2623344"/>
            <a:ext cx="1835284" cy="238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69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Data Transfer Objects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E5B8A-EB4B-4A36-A0CB-13A4B4776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43" y="883928"/>
            <a:ext cx="2850932" cy="37081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27571-97F9-41B4-8F0B-EE49F5B57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427" y="779030"/>
            <a:ext cx="2422573" cy="274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006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Active Record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201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Special form of DTOs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Direct translations from database tables or other sources</a:t>
            </a:r>
          </a:p>
          <a:p>
            <a:pPr lvl="1" indent="-342900">
              <a:spcBef>
                <a:spcPts val="6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Ex: JPA Entity per table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Have navigational methods such as:</a:t>
            </a:r>
          </a:p>
          <a:p>
            <a:pPr lvl="1" indent="-342900">
              <a:spcBef>
                <a:spcPts val="6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save()</a:t>
            </a:r>
          </a:p>
          <a:p>
            <a:pPr lvl="1" indent="-342900">
              <a:spcBef>
                <a:spcPts val="6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find()</a:t>
            </a:r>
          </a:p>
          <a:p>
            <a:pPr indent="-342900"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These are data structures and should not be treated as objects by putting business rules/methods inside them. This will lead to hybrids.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2325009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chemeClr val="accent2"/>
                </a:solidFill>
              </a:rPr>
              <a:t>6.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Error Handling</a:t>
            </a:r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Ref: Clean Code – Robert C. Martin</a:t>
            </a:r>
            <a:br>
              <a:rPr lang="en" sz="2000" dirty="0"/>
            </a:br>
            <a:r>
              <a:rPr lang="en" sz="2000" dirty="0"/>
              <a:t>Chapter 7</a:t>
            </a:r>
            <a:endParaRPr sz="2000" dirty="0"/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1570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Don’t use Return Codes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8919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Older programming languages did not have support for exceptions</a:t>
            </a:r>
          </a:p>
          <a:p>
            <a:pPr lvl="1" indent="-342900">
              <a:spcBef>
                <a:spcPts val="6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You either had to set an error flag or return an error code that the caller has to check</a:t>
            </a:r>
            <a:endParaRPr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095322-A116-4C57-B765-3B6BD8700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411" y="1703846"/>
            <a:ext cx="4545625" cy="299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1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Exceptions in Java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1026" name="Picture 2" descr="exceptionhierarchy3-8391226">
            <a:extLst>
              <a:ext uri="{FF2B5EF4-FFF2-40B4-BE49-F238E27FC236}">
                <a16:creationId xmlns:a16="http://schemas.microsoft.com/office/drawing/2014/main" id="{C3321EEF-39D3-4B71-A0E7-AA93053B0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613" y="1023505"/>
            <a:ext cx="56007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925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body" idx="1"/>
          </p:nvPr>
        </p:nvSpPr>
        <p:spPr>
          <a:xfrm>
            <a:off x="799125" y="652895"/>
            <a:ext cx="3136800" cy="2123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dirty="0"/>
              <a:t>Checked Exceptions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MUST be declared in throws clause of a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Checked during compile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If callee throws, caller MUST catch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Ex: </a:t>
            </a:r>
            <a:r>
              <a:rPr lang="en-US" sz="1400" dirty="0" err="1"/>
              <a:t>FileNotFoundException</a:t>
            </a:r>
            <a:endParaRPr lang="en-US" sz="1400" dirty="0"/>
          </a:p>
        </p:txBody>
      </p:sp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799125" y="83126"/>
            <a:ext cx="6462600" cy="5247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Checked vs. Unchecked Exceptions</a:t>
            </a:r>
            <a:endParaRPr sz="2800" dirty="0"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2"/>
          </p:nvPr>
        </p:nvSpPr>
        <p:spPr>
          <a:xfrm>
            <a:off x="5208075" y="652895"/>
            <a:ext cx="3136800" cy="2630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dirty="0"/>
              <a:t>Unchecked Exceptions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Is not declared in throws clause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You are not forced to handle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Not checked at compile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Ex: </a:t>
            </a:r>
            <a:r>
              <a:rPr lang="en-US" sz="1400" dirty="0" err="1"/>
              <a:t>NullPointerException</a:t>
            </a:r>
            <a:endParaRPr lang="en-US" sz="1400" dirty="0"/>
          </a:p>
        </p:txBody>
      </p:sp>
      <p:sp>
        <p:nvSpPr>
          <p:cNvPr id="147" name="Google Shape;147;p19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3CD415-FC9F-4BD7-9A18-827311A52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25" y="2910372"/>
            <a:ext cx="3391279" cy="128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55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Exception  Handling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1400028"/>
            <a:ext cx="6462600" cy="8919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Several robust languages do not have checked exceptions</a:t>
            </a:r>
          </a:p>
          <a:p>
            <a:pPr lvl="1" indent="-342900">
              <a:spcBef>
                <a:spcPts val="6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Ex: C#, Python, Ruby</a:t>
            </a:r>
          </a:p>
          <a:p>
            <a:pPr indent="-342900"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Functions at the lowest levels impact functions at the highest levels when checked exceptions are used</a:t>
            </a:r>
            <a:endParaRPr sz="1200" dirty="0"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700" y="978271"/>
            <a:ext cx="2929816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1. Use Unchecked Exceptions</a:t>
            </a:r>
          </a:p>
        </p:txBody>
      </p:sp>
      <p:pic>
        <p:nvPicPr>
          <p:cNvPr id="2052" name="Picture 4" descr="Checked Exceptions are Evil">
            <a:extLst>
              <a:ext uri="{FF2B5EF4-FFF2-40B4-BE49-F238E27FC236}">
                <a16:creationId xmlns:a16="http://schemas.microsoft.com/office/drawing/2014/main" id="{ADFA9DC7-C51D-4C5D-BD72-0F56B649F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286" y="2757832"/>
            <a:ext cx="4324350" cy="2095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1929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Exception  Handling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1400028"/>
            <a:ext cx="6462600" cy="8919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Either directly throw a custom exception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n-US" sz="1200" dirty="0"/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n-US" sz="12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Or  wrap the original exception inside a custom exception and throw it</a:t>
            </a:r>
            <a:endParaRPr sz="1200" dirty="0"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700" y="978271"/>
            <a:ext cx="2929816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2. Use Custom Exceptions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4D73FF-823B-4575-A14C-DC9A12B8C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215" y="3825339"/>
            <a:ext cx="5083570" cy="1185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5F301B-A6D8-43D0-AEEB-C48EDF283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215" y="1912770"/>
            <a:ext cx="3484643" cy="112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4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Exception  Handling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700" y="978271"/>
            <a:ext cx="4177064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3. Never swallow exceptions in catch block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06F54-E822-482D-8750-A380569A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25" y="1406236"/>
            <a:ext cx="3136800" cy="56185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Cause of error will be lost forever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D24631-997F-4F64-833B-BC2998F13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276" y="2258249"/>
            <a:ext cx="3833192" cy="9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5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Exception  Handling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700" y="978271"/>
            <a:ext cx="4177064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4. Throw specific exceptions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06F54-E822-482D-8750-A380569A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25" y="1406236"/>
            <a:ext cx="6241466" cy="56185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If there are too many specific exceptions to throw, the code needs some refactoring</a:t>
            </a:r>
          </a:p>
        </p:txBody>
      </p:sp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ED6C3351-0FDB-4B12-9104-C32A379D9AFB}"/>
              </a:ext>
            </a:extLst>
          </p:cNvPr>
          <p:cNvSpPr txBox="1"/>
          <p:nvPr/>
        </p:nvSpPr>
        <p:spPr>
          <a:xfrm>
            <a:off x="692737" y="2102580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95;p13">
            <a:extLst>
              <a:ext uri="{FF2B5EF4-FFF2-40B4-BE49-F238E27FC236}">
                <a16:creationId xmlns:a16="http://schemas.microsoft.com/office/drawing/2014/main" id="{E4861B56-703B-4919-AF2A-820794EC112F}"/>
              </a:ext>
            </a:extLst>
          </p:cNvPr>
          <p:cNvSpPr txBox="1"/>
          <p:nvPr/>
        </p:nvSpPr>
        <p:spPr>
          <a:xfrm>
            <a:off x="4572000" y="2113208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B13031-7E4C-4159-BA37-090E5A86C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67" y="2945439"/>
            <a:ext cx="3353091" cy="8458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6B29D6-A8A0-4296-B6B8-7DCCEC4DF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030292"/>
            <a:ext cx="3732600" cy="56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91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Exception  Handling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700" y="978271"/>
            <a:ext cx="4177064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5. Catch specific exceptions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06F54-E822-482D-8750-A380569A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25" y="1406236"/>
            <a:ext cx="6241466" cy="56185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Do not catch the general “Exception” class</a:t>
            </a:r>
          </a:p>
        </p:txBody>
      </p:sp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ED6C3351-0FDB-4B12-9104-C32A379D9AFB}"/>
              </a:ext>
            </a:extLst>
          </p:cNvPr>
          <p:cNvSpPr txBox="1"/>
          <p:nvPr/>
        </p:nvSpPr>
        <p:spPr>
          <a:xfrm>
            <a:off x="692737" y="2102580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95;p13">
            <a:extLst>
              <a:ext uri="{FF2B5EF4-FFF2-40B4-BE49-F238E27FC236}">
                <a16:creationId xmlns:a16="http://schemas.microsoft.com/office/drawing/2014/main" id="{E4861B56-703B-4919-AF2A-820794EC112F}"/>
              </a:ext>
            </a:extLst>
          </p:cNvPr>
          <p:cNvSpPr txBox="1"/>
          <p:nvPr/>
        </p:nvSpPr>
        <p:spPr>
          <a:xfrm>
            <a:off x="4572000" y="2113208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44349-E8B4-401E-8CFA-176F1E738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34" y="3030292"/>
            <a:ext cx="3274393" cy="1145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10E421-B0FA-409B-977D-12B8B09FB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970293"/>
            <a:ext cx="4092295" cy="126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59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Exception  Handling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700" y="978271"/>
            <a:ext cx="4177064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6. Don’t lose the </a:t>
            </a:r>
            <a:r>
              <a:rPr lang="en-US" sz="1400" dirty="0" err="1"/>
              <a:t>StackTrace</a:t>
            </a:r>
            <a:endParaRPr lang="en-US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06F54-E822-482D-8750-A380569A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25" y="1406236"/>
            <a:ext cx="6241466" cy="56185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When throwing custom exceptions, make sure to log the original exception inside the custom exception.</a:t>
            </a:r>
          </a:p>
        </p:txBody>
      </p:sp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ED6C3351-0FDB-4B12-9104-C32A379D9AFB}"/>
              </a:ext>
            </a:extLst>
          </p:cNvPr>
          <p:cNvSpPr txBox="1"/>
          <p:nvPr/>
        </p:nvSpPr>
        <p:spPr>
          <a:xfrm>
            <a:off x="692737" y="2102580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95;p13">
            <a:extLst>
              <a:ext uri="{FF2B5EF4-FFF2-40B4-BE49-F238E27FC236}">
                <a16:creationId xmlns:a16="http://schemas.microsoft.com/office/drawing/2014/main" id="{E4861B56-703B-4919-AF2A-820794EC112F}"/>
              </a:ext>
            </a:extLst>
          </p:cNvPr>
          <p:cNvSpPr txBox="1"/>
          <p:nvPr/>
        </p:nvSpPr>
        <p:spPr>
          <a:xfrm>
            <a:off x="4572000" y="2113208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550916-2502-417D-AFAF-660D8D8C1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98" y="2917379"/>
            <a:ext cx="3674778" cy="5541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C624EC-B7D1-4650-A2A1-56C00B02C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272" y="2872355"/>
            <a:ext cx="4437994" cy="85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63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Exception  Handling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625" y="978271"/>
            <a:ext cx="4177064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7. Log the exception or throw it, never do both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06F54-E822-482D-8750-A380569A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25" y="1406236"/>
            <a:ext cx="6241466" cy="56185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We don’t want multiple logs of the same problem in the code</a:t>
            </a:r>
          </a:p>
        </p:txBody>
      </p:sp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ED6C3351-0FDB-4B12-9104-C32A379D9AFB}"/>
              </a:ext>
            </a:extLst>
          </p:cNvPr>
          <p:cNvSpPr txBox="1"/>
          <p:nvPr/>
        </p:nvSpPr>
        <p:spPr>
          <a:xfrm>
            <a:off x="2874828" y="2082551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14CBC-CBCD-40F1-BC8A-F3B48F6D0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122" y="2758866"/>
            <a:ext cx="3932261" cy="112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527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Exception  Handling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625" y="978271"/>
            <a:ext cx="4177064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8. Catch only what you can handle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06F54-E822-482D-8750-A380569A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25" y="1406236"/>
            <a:ext cx="6241466" cy="99830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It does no good to catch and rethrow without doing anything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Catch only if you want to add additional context/information to the exception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We only add noise to the code with a try-catch block when we catch and do nothing</a:t>
            </a:r>
          </a:p>
        </p:txBody>
      </p:sp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ED6C3351-0FDB-4B12-9104-C32A379D9AFB}"/>
              </a:ext>
            </a:extLst>
          </p:cNvPr>
          <p:cNvSpPr txBox="1"/>
          <p:nvPr/>
        </p:nvSpPr>
        <p:spPr>
          <a:xfrm>
            <a:off x="2014020" y="2571750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54067B-1E0F-4A96-A4D5-373752561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020" y="3263696"/>
            <a:ext cx="4968671" cy="99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42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Exception  Handling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625" y="978271"/>
            <a:ext cx="4177064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9. Don’t use print stack trace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06F54-E822-482D-8750-A380569A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25" y="1406236"/>
            <a:ext cx="6241466" cy="99830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Message will only be written to the standard output and can be lost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Either log the error or throw it to the caller who can decide what to do with it</a:t>
            </a:r>
          </a:p>
        </p:txBody>
      </p:sp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ED6C3351-0FDB-4B12-9104-C32A379D9AFB}"/>
              </a:ext>
            </a:extLst>
          </p:cNvPr>
          <p:cNvSpPr txBox="1"/>
          <p:nvPr/>
        </p:nvSpPr>
        <p:spPr>
          <a:xfrm>
            <a:off x="2014020" y="2571750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973EF-1A1D-4D09-A904-F7246547E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793" y="3297117"/>
            <a:ext cx="4016088" cy="11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07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Exception  Handling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624" y="978271"/>
            <a:ext cx="5507175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10. Exceptions should not be used for flow of control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06F54-E822-482D-8750-A380569A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25" y="1406236"/>
            <a:ext cx="6241466" cy="99830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The normal course of operation should not raise exceptions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If exceptions are used for normal situations, how do you identify exceptional/unusual situations?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31129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Exception  Handling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624" y="978271"/>
            <a:ext cx="5507175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11. Provide context with exceptions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06F54-E822-482D-8750-A380569A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25" y="1406236"/>
            <a:ext cx="6241466" cy="99830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When logging or rethrowing, add contextual information to exceptions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Ex: </a:t>
            </a:r>
            <a:r>
              <a:rPr lang="en-US" sz="1100" dirty="0" err="1"/>
              <a:t>filePath</a:t>
            </a:r>
            <a:r>
              <a:rPr lang="en-US" sz="1100" dirty="0"/>
              <a:t> information added to exception being thrown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F4111-E325-48BB-927C-66DC4C809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348" y="2571750"/>
            <a:ext cx="6492803" cy="175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11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Exception  Handling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624" y="978271"/>
            <a:ext cx="5507175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12. Cater to the caller’s needs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06F54-E822-482D-8750-A380569A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25" y="1406236"/>
            <a:ext cx="6241466" cy="56110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Think “How will this exception be caught?” “How will it be handled?”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A lot of times our course of action is the same regardless  of the specific exception being thrown</a:t>
            </a:r>
          </a:p>
          <a:p>
            <a:pPr marL="101600" indent="0">
              <a:buNone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032AF6-BCEE-4DB4-96D4-0882FBAA2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41" y="2285189"/>
            <a:ext cx="2687837" cy="19971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6FCEBD-3548-4DDC-869D-C58B3792F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500" y="2285189"/>
            <a:ext cx="2187957" cy="15940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4F2D96-8884-4143-8430-68D171C423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4433" y="3855690"/>
            <a:ext cx="2326089" cy="6190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235A5E1-0DB7-464E-9284-71684252B3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455" y="2285189"/>
            <a:ext cx="2343921" cy="124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9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Don’t Return Null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5109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Every other line in the caller’s code becomes a null check</a:t>
            </a:r>
            <a:endParaRPr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66076-3591-49CC-AEF0-FDA0D4799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023" y="1515546"/>
            <a:ext cx="4213050" cy="1562415"/>
          </a:xfrm>
          <a:prstGeom prst="rect">
            <a:avLst/>
          </a:prstGeom>
        </p:spPr>
      </p:pic>
      <p:sp>
        <p:nvSpPr>
          <p:cNvPr id="9" name="Google Shape;125;p17">
            <a:extLst>
              <a:ext uri="{FF2B5EF4-FFF2-40B4-BE49-F238E27FC236}">
                <a16:creationId xmlns:a16="http://schemas.microsoft.com/office/drawing/2014/main" id="{B471F367-7761-417D-8478-197644463308}"/>
              </a:ext>
            </a:extLst>
          </p:cNvPr>
          <p:cNvSpPr txBox="1">
            <a:spLocks/>
          </p:cNvSpPr>
          <p:nvPr/>
        </p:nvSpPr>
        <p:spPr>
          <a:xfrm>
            <a:off x="893700" y="3430649"/>
            <a:ext cx="6462600" cy="85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342900"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Throw (unchecked) exceptions instead</a:t>
            </a:r>
          </a:p>
          <a:p>
            <a:pPr indent="-342900"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Use the SPECIAL CASE design pattern (Null object pattern)</a:t>
            </a:r>
          </a:p>
        </p:txBody>
      </p:sp>
    </p:spTree>
    <p:extLst>
      <p:ext uri="{BB962C8B-B14F-4D97-AF65-F5344CB8AC3E}">
        <p14:creationId xmlns:p14="http://schemas.microsoft.com/office/powerpoint/2010/main" val="3429857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Don’t Pass Null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9612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Returning null is bad but passing null is worse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Unless you are working with an API which expects you to pass null, you should avoid passing null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Perform null checks and validation at the external-most parts of the application</a:t>
            </a:r>
          </a:p>
          <a:p>
            <a:pPr lvl="1" indent="-342900">
              <a:spcBef>
                <a:spcPts val="6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sz="1200" dirty="0"/>
              <a:t>Ex: REST API endpoint (controller), REST API Client (when calling other REST API endpoints)</a:t>
            </a:r>
          </a:p>
          <a:p>
            <a:pPr indent="-342900">
              <a:buSzPts val="1800"/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indent="-342900">
              <a:spcBef>
                <a:spcPts val="600"/>
              </a:spcBef>
              <a:buSzPts val="1800"/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7467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Logging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700" y="978271"/>
            <a:ext cx="4177064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1. Log at the proper level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3BF61646-3CF8-491E-9F2F-A9E2E94CE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857758"/>
              </p:ext>
            </p:extLst>
          </p:nvPr>
        </p:nvGraphicFramePr>
        <p:xfrm>
          <a:off x="2555750" y="1541038"/>
          <a:ext cx="4032500" cy="2770542"/>
        </p:xfrm>
        <a:graphic>
          <a:graphicData uri="http://schemas.openxmlformats.org/drawingml/2006/table">
            <a:tbl>
              <a:tblPr firstRow="1" bandRow="1">
                <a:tableStyleId>{C98665B7-6574-423E-A4B5-A6C020D860FF}</a:tableStyleId>
              </a:tblPr>
              <a:tblGrid>
                <a:gridCol w="842629">
                  <a:extLst>
                    <a:ext uri="{9D8B030D-6E8A-4147-A177-3AD203B41FA5}">
                      <a16:colId xmlns:a16="http://schemas.microsoft.com/office/drawing/2014/main" val="3187806117"/>
                    </a:ext>
                  </a:extLst>
                </a:gridCol>
                <a:gridCol w="3189871">
                  <a:extLst>
                    <a:ext uri="{9D8B030D-6E8A-4147-A177-3AD203B41FA5}">
                      <a16:colId xmlns:a16="http://schemas.microsoft.com/office/drawing/2014/main" val="3525053878"/>
                    </a:ext>
                  </a:extLst>
                </a:gridCol>
              </a:tblGrid>
              <a:tr h="286971">
                <a:tc>
                  <a:txBody>
                    <a:bodyPr/>
                    <a:lstStyle/>
                    <a:p>
                      <a:r>
                        <a:rPr lang="en-US" sz="1000" dirty="0"/>
                        <a:t>FATAL</a:t>
                      </a:r>
                    </a:p>
                  </a:txBody>
                  <a:tcPr marL="64913" marR="64913" marT="32457" marB="32457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Signals very bad news, potential application crash</a:t>
                      </a:r>
                    </a:p>
                  </a:txBody>
                  <a:tcPr marL="64913" marR="64913" marT="32457" marB="32457"/>
                </a:tc>
                <a:extLst>
                  <a:ext uri="{0D108BD9-81ED-4DB2-BD59-A6C34878D82A}">
                    <a16:rowId xmlns:a16="http://schemas.microsoft.com/office/drawing/2014/main" val="705524816"/>
                  </a:ext>
                </a:extLst>
              </a:tr>
              <a:tr h="519307">
                <a:tc>
                  <a:txBody>
                    <a:bodyPr/>
                    <a:lstStyle/>
                    <a:p>
                      <a:r>
                        <a:rPr lang="en-US" sz="1000" dirty="0"/>
                        <a:t>ERROR</a:t>
                      </a:r>
                    </a:p>
                  </a:txBody>
                  <a:tcPr marL="64913" marR="64913" marT="32457" marB="32457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Something has gone terribly wrong; we must investigate immediately. Ex: Database unavailability etc.</a:t>
                      </a:r>
                    </a:p>
                  </a:txBody>
                  <a:tcPr marL="64913" marR="64913" marT="32457" marB="32457"/>
                </a:tc>
                <a:extLst>
                  <a:ext uri="{0D108BD9-81ED-4DB2-BD59-A6C34878D82A}">
                    <a16:rowId xmlns:a16="http://schemas.microsoft.com/office/drawing/2014/main" val="1534255470"/>
                  </a:ext>
                </a:extLst>
              </a:tr>
              <a:tr h="479781">
                <a:tc>
                  <a:txBody>
                    <a:bodyPr/>
                    <a:lstStyle/>
                    <a:p>
                      <a:r>
                        <a:rPr lang="en-US" sz="1000" dirty="0"/>
                        <a:t>WARN</a:t>
                      </a:r>
                    </a:p>
                  </a:txBody>
                  <a:tcPr marL="64913" marR="64913" marT="32457" marB="32457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Application can tolerate the issue, but issue should be justified or investigated</a:t>
                      </a:r>
                    </a:p>
                  </a:txBody>
                  <a:tcPr marL="64913" marR="64913" marT="32457" marB="32457"/>
                </a:tc>
                <a:extLst>
                  <a:ext uri="{0D108BD9-81ED-4DB2-BD59-A6C34878D82A}">
                    <a16:rowId xmlns:a16="http://schemas.microsoft.com/office/drawing/2014/main" val="1977307396"/>
                  </a:ext>
                </a:extLst>
              </a:tr>
              <a:tr h="479781">
                <a:tc>
                  <a:txBody>
                    <a:bodyPr/>
                    <a:lstStyle/>
                    <a:p>
                      <a:r>
                        <a:rPr lang="en-US" sz="1000" dirty="0"/>
                        <a:t>INFO</a:t>
                      </a:r>
                    </a:p>
                  </a:txBody>
                  <a:tcPr marL="64913" marR="64913" marT="32457" marB="32457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Informational messages that highlight the progress of the application at coarse-grained level.</a:t>
                      </a:r>
                    </a:p>
                  </a:txBody>
                  <a:tcPr marL="64913" marR="64913" marT="32457" marB="32457"/>
                </a:tc>
                <a:extLst>
                  <a:ext uri="{0D108BD9-81ED-4DB2-BD59-A6C34878D82A}">
                    <a16:rowId xmlns:a16="http://schemas.microsoft.com/office/drawing/2014/main" val="1668044661"/>
                  </a:ext>
                </a:extLst>
              </a:tr>
              <a:tr h="519307">
                <a:tc>
                  <a:txBody>
                    <a:bodyPr/>
                    <a:lstStyle/>
                    <a:p>
                      <a:r>
                        <a:rPr lang="en-US" sz="1000" dirty="0"/>
                        <a:t>DEBUG</a:t>
                      </a:r>
                    </a:p>
                  </a:txBody>
                  <a:tcPr marL="64913" marR="64913" marT="32457" marB="32457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Used to debug an application. For fine-grained information events. Normally turned off on production application.</a:t>
                      </a:r>
                    </a:p>
                  </a:txBody>
                  <a:tcPr marL="64913" marR="64913" marT="32457" marB="32457"/>
                </a:tc>
                <a:extLst>
                  <a:ext uri="{0D108BD9-81ED-4DB2-BD59-A6C34878D82A}">
                    <a16:rowId xmlns:a16="http://schemas.microsoft.com/office/drawing/2014/main" val="3058741892"/>
                  </a:ext>
                </a:extLst>
              </a:tr>
              <a:tr h="479781">
                <a:tc>
                  <a:txBody>
                    <a:bodyPr/>
                    <a:lstStyle/>
                    <a:p>
                      <a:r>
                        <a:rPr lang="en-US" sz="1000" dirty="0"/>
                        <a:t>TRACE</a:t>
                      </a:r>
                    </a:p>
                  </a:txBody>
                  <a:tcPr marL="64913" marR="64913" marT="32457" marB="32457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Even more detail added to debug logs</a:t>
                      </a:r>
                    </a:p>
                  </a:txBody>
                  <a:tcPr marL="64913" marR="64913" marT="32457" marB="32457"/>
                </a:tc>
                <a:extLst>
                  <a:ext uri="{0D108BD9-81ED-4DB2-BD59-A6C34878D82A}">
                    <a16:rowId xmlns:a16="http://schemas.microsoft.com/office/drawing/2014/main" val="120744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177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Logging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700" y="978271"/>
            <a:ext cx="4177064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1. Log at the proper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F4F23F-63EF-4F31-8356-9DE598F5B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532" y="1491013"/>
            <a:ext cx="4892936" cy="218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79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Logging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700" y="978271"/>
            <a:ext cx="4177064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1. Log at the proper level</a:t>
            </a:r>
          </a:p>
        </p:txBody>
      </p:sp>
      <p:pic>
        <p:nvPicPr>
          <p:cNvPr id="3074" name="Picture 2" descr="Log4j Log Levels">
            <a:extLst>
              <a:ext uri="{FF2B5EF4-FFF2-40B4-BE49-F238E27FC236}">
                <a16:creationId xmlns:a16="http://schemas.microsoft.com/office/drawing/2014/main" id="{D3528A33-BBA0-4C81-B3DA-250B0D2E6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16" y="1291772"/>
            <a:ext cx="8356209" cy="3032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79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Logging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E257BA2F-04CE-4266-8625-20D38E005FCD}"/>
              </a:ext>
            </a:extLst>
          </p:cNvPr>
          <p:cNvSpPr txBox="1">
            <a:spLocks/>
          </p:cNvSpPr>
          <p:nvPr/>
        </p:nvSpPr>
        <p:spPr>
          <a:xfrm>
            <a:off x="893625" y="957489"/>
            <a:ext cx="4177064" cy="3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2. Do not depend on a specific logging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06F54-E822-482D-8750-A380569A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25" y="1406236"/>
            <a:ext cx="6241466" cy="56185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In Java, the code should depend on a logging framework such as SLF4J API which allows for the underlying logging library to be switched at any time (by changing the dependency)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100" dirty="0"/>
              <a:t>Ex: Switch from Log4j to </a:t>
            </a:r>
            <a:r>
              <a:rPr lang="en-US" sz="1100" dirty="0" err="1"/>
              <a:t>LogBack</a:t>
            </a:r>
            <a:endParaRPr lang="en-US" sz="1100" dirty="0"/>
          </a:p>
          <a:p>
            <a:pPr marL="558800" lvl="1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152869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Logging Best Practices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06F54-E822-482D-8750-A380569A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700" y="963104"/>
            <a:ext cx="6241466" cy="561851"/>
          </a:xfrm>
        </p:spPr>
        <p:txBody>
          <a:bodyPr/>
          <a:lstStyle/>
          <a:p>
            <a:pPr marL="330200" indent="-228600">
              <a:buSzPct val="100000"/>
              <a:buFont typeface="+mj-lt"/>
              <a:buAutoNum type="arabicPeriod" startAt="4"/>
            </a:pPr>
            <a:r>
              <a:rPr lang="en-US" sz="1100" dirty="0"/>
              <a:t>Add Context to Log messages (similar to exceptions)</a:t>
            </a:r>
          </a:p>
          <a:p>
            <a:pPr marL="330200" indent="-228600">
              <a:buSzPct val="100000"/>
              <a:buFont typeface="+mj-lt"/>
              <a:buAutoNum type="arabicPeriod" startAt="4"/>
            </a:pPr>
            <a:r>
              <a:rPr lang="en-US" sz="1100" dirty="0"/>
              <a:t>Make logs human readable and machine parse-able</a:t>
            </a:r>
          </a:p>
          <a:p>
            <a:pPr marL="330200" indent="-228600">
              <a:buSzPct val="100000"/>
              <a:buFont typeface="+mj-lt"/>
              <a:buAutoNum type="arabicPeriod" startAt="4"/>
            </a:pPr>
            <a:r>
              <a:rPr lang="en-US" sz="1100" dirty="0"/>
              <a:t>Do not log sensitive information (passwords, tokens etc.)</a:t>
            </a:r>
          </a:p>
          <a:p>
            <a:pPr marL="330200" indent="-228600">
              <a:buSzPct val="100000"/>
              <a:buFont typeface="+mj-lt"/>
              <a:buAutoNum type="arabicPeriod" startAt="4"/>
            </a:pPr>
            <a:r>
              <a:rPr lang="en-US" sz="1100" dirty="0"/>
              <a:t>Define which events to log</a:t>
            </a:r>
          </a:p>
          <a:p>
            <a:pPr lvl="1">
              <a:buSzPct val="100000"/>
            </a:pPr>
            <a:r>
              <a:rPr lang="en-US" sz="1100" dirty="0"/>
              <a:t>Ex: Validation failures, session management failures, </a:t>
            </a:r>
          </a:p>
          <a:p>
            <a:pPr marL="558800" lvl="1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474604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893700" y="2675"/>
            <a:ext cx="1903532" cy="17963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ctrTitle" idx="4294967295"/>
          </p:nvPr>
        </p:nvSpPr>
        <p:spPr>
          <a:xfrm>
            <a:off x="778225" y="1889499"/>
            <a:ext cx="6623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lt1"/>
                </a:solidFill>
              </a:rPr>
              <a:t>Exercise</a:t>
            </a:r>
            <a:endParaRPr sz="7200" dirty="0">
              <a:solidFill>
                <a:schemeClr val="lt1"/>
              </a:solidFill>
            </a:endParaRPr>
          </a:p>
        </p:txBody>
      </p:sp>
      <p:sp>
        <p:nvSpPr>
          <p:cNvPr id="133" name="Google Shape;133;p18"/>
          <p:cNvSpPr txBox="1">
            <a:spLocks noGrp="1"/>
          </p:cNvSpPr>
          <p:nvPr>
            <p:ph type="subTitle" idx="4294967295"/>
          </p:nvPr>
        </p:nvSpPr>
        <p:spPr>
          <a:xfrm>
            <a:off x="778225" y="3049299"/>
            <a:ext cx="6623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/>
            <a:r>
              <a:rPr lang="en-US" sz="1600" dirty="0">
                <a:solidFill>
                  <a:schemeClr val="lt1"/>
                </a:solidFill>
              </a:rPr>
              <a:t>Get an old code base of yours (Java)</a:t>
            </a:r>
          </a:p>
          <a:p>
            <a:pPr marL="342900" indent="-342900"/>
            <a:r>
              <a:rPr lang="en-US" sz="1600" dirty="0">
                <a:solidFill>
                  <a:schemeClr val="lt1"/>
                </a:solidFill>
              </a:rPr>
              <a:t>Find a minimum of 5 clean code principles violations</a:t>
            </a:r>
          </a:p>
          <a:p>
            <a:pPr marL="800100" lvl="1" indent="-342900">
              <a:spcBef>
                <a:spcPts val="600"/>
              </a:spcBef>
            </a:pPr>
            <a:r>
              <a:rPr lang="en-US" sz="1600" dirty="0">
                <a:solidFill>
                  <a:schemeClr val="lt1"/>
                </a:solidFill>
              </a:rPr>
              <a:t>What is the violation?</a:t>
            </a:r>
          </a:p>
          <a:p>
            <a:pPr marL="800100" lvl="1" indent="-342900">
              <a:spcBef>
                <a:spcPts val="600"/>
              </a:spcBef>
            </a:pPr>
            <a:r>
              <a:rPr lang="en-US" sz="1600" dirty="0">
                <a:solidFill>
                  <a:schemeClr val="lt1"/>
                </a:solidFill>
              </a:rPr>
              <a:t>Why is the principle important?</a:t>
            </a:r>
          </a:p>
          <a:p>
            <a:pPr marL="800100" lvl="1" indent="-342900">
              <a:spcBef>
                <a:spcPts val="600"/>
              </a:spcBef>
            </a:pPr>
            <a:r>
              <a:rPr lang="en-US" sz="1600" dirty="0">
                <a:solidFill>
                  <a:schemeClr val="lt1"/>
                </a:solidFill>
              </a:rPr>
              <a:t>What is the suggested fix?</a:t>
            </a:r>
            <a:endParaRPr sz="1600" dirty="0">
              <a:solidFill>
                <a:schemeClr val="lt1"/>
              </a:solidFill>
            </a:endParaRPr>
          </a:p>
        </p:txBody>
      </p:sp>
      <p:grpSp>
        <p:nvGrpSpPr>
          <p:cNvPr id="134" name="Google Shape;134;p18"/>
          <p:cNvGrpSpPr/>
          <p:nvPr/>
        </p:nvGrpSpPr>
        <p:grpSpPr>
          <a:xfrm>
            <a:off x="1276606" y="336278"/>
            <a:ext cx="1140633" cy="1113381"/>
            <a:chOff x="570875" y="4322250"/>
            <a:chExt cx="443300" cy="443325"/>
          </a:xfrm>
        </p:grpSpPr>
        <p:sp>
          <p:nvSpPr>
            <p:cNvPr id="135" name="Google Shape;135;p18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9636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5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50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sz="18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05" name="Google Shape;1405;p50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406" name="Google Shape;1406;p50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407" name="Google Shape;1407;p50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08" name="Google Shape;1408;p50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409" name="Google Shape;1409;p50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410" name="Google Shape;1410;p50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11" name="Google Shape;1411;p50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5928" extrusionOk="0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412" name="Google Shape;1412;p50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413" name="Google Shape;1413;p50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14" name="Google Shape;1414;p50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415" name="Google Shape;1415;p50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416" name="Google Shape;1416;p50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17" name="Google Shape;1417;p50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Intention Revealing Names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893700" y="2116713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411400" y="2040206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5B1EC2-B96E-450C-BD88-39420D4FF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00" y="2867492"/>
            <a:ext cx="3293486" cy="4185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47E2A0-5092-478D-BCFC-492C84B56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400" y="2861419"/>
            <a:ext cx="3109229" cy="1074513"/>
          </a:xfrm>
          <a:prstGeom prst="rect">
            <a:avLst/>
          </a:prstGeom>
        </p:spPr>
      </p:pic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Choosing good names takes time but saves more than it takes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Name should answer all the big questions: Why, What, How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If a name requires a comment, then the intent is not revealed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4144810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Intention Revealing Names Contd.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What is the purpose of this code?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865FE-8552-4846-A65B-9DE908319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294" y="1510736"/>
            <a:ext cx="5204911" cy="16536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B0DE9C-071E-462D-B2AF-B81FF368F1BF}"/>
              </a:ext>
            </a:extLst>
          </p:cNvPr>
          <p:cNvSpPr txBox="1"/>
          <p:nvPr/>
        </p:nvSpPr>
        <p:spPr>
          <a:xfrm>
            <a:off x="3451883" y="3426672"/>
            <a:ext cx="9181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72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2396951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Intention Revealing Names Contd.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583" y="767755"/>
            <a:ext cx="6137100" cy="491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400" dirty="0"/>
              <a:t>What is the purpose of this code?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865FE-8552-4846-A65B-9DE908319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772" y="1272109"/>
            <a:ext cx="5204911" cy="16536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B0DE9C-071E-462D-B2AF-B81FF368F1BF}"/>
              </a:ext>
            </a:extLst>
          </p:cNvPr>
          <p:cNvSpPr txBox="1"/>
          <p:nvPr/>
        </p:nvSpPr>
        <p:spPr>
          <a:xfrm>
            <a:off x="7310205" y="1352366"/>
            <a:ext cx="14546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lang="en-US" sz="4400" dirty="0"/>
          </a:p>
        </p:txBody>
      </p:sp>
      <p:sp>
        <p:nvSpPr>
          <p:cNvPr id="7" name="Google Shape;125;p17">
            <a:extLst>
              <a:ext uri="{FF2B5EF4-FFF2-40B4-BE49-F238E27FC236}">
                <a16:creationId xmlns:a16="http://schemas.microsoft.com/office/drawing/2014/main" id="{C4CFAA55-37BB-4387-BA0C-0D06D1D8C162}"/>
              </a:ext>
            </a:extLst>
          </p:cNvPr>
          <p:cNvSpPr txBox="1">
            <a:spLocks/>
          </p:cNvSpPr>
          <p:nvPr/>
        </p:nvSpPr>
        <p:spPr>
          <a:xfrm>
            <a:off x="1032927" y="3253260"/>
            <a:ext cx="6462600" cy="1348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342900">
              <a:buSzPts val="1800"/>
            </a:pPr>
            <a:r>
              <a:rPr lang="en-US" sz="1400" dirty="0"/>
              <a:t>What kind of things are in the list?</a:t>
            </a:r>
          </a:p>
          <a:p>
            <a:pPr indent="-342900">
              <a:buSzPts val="1800"/>
            </a:pPr>
            <a:r>
              <a:rPr lang="en-US" sz="1400" dirty="0"/>
              <a:t>What is the significance of the first element in the list?</a:t>
            </a:r>
          </a:p>
          <a:p>
            <a:pPr indent="-342900">
              <a:buSzPts val="1800"/>
            </a:pPr>
            <a:r>
              <a:rPr lang="en-US" sz="1400" dirty="0"/>
              <a:t>What is the significance of the value 4?</a:t>
            </a:r>
          </a:p>
          <a:p>
            <a:pPr indent="-342900">
              <a:buSzPts val="1800"/>
            </a:pPr>
            <a:r>
              <a:rPr lang="en-US" sz="1400" dirty="0"/>
              <a:t>How  do we use the list being returned?</a:t>
            </a:r>
          </a:p>
        </p:txBody>
      </p:sp>
    </p:spTree>
    <p:extLst>
      <p:ext uri="{BB962C8B-B14F-4D97-AF65-F5344CB8AC3E}">
        <p14:creationId xmlns:p14="http://schemas.microsoft.com/office/powerpoint/2010/main" val="22498592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Intention Revealing Names Contd.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583" y="767755"/>
            <a:ext cx="6137100" cy="491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400" dirty="0"/>
              <a:t>The code is for a minesweeper game, here’s an improved version </a:t>
            </a:r>
            <a:endParaRPr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B0DE9C-071E-462D-B2AF-B81FF368F1BF}"/>
              </a:ext>
            </a:extLst>
          </p:cNvPr>
          <p:cNvSpPr txBox="1"/>
          <p:nvPr/>
        </p:nvSpPr>
        <p:spPr>
          <a:xfrm>
            <a:off x="7310205" y="1352366"/>
            <a:ext cx="14546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0" i="0" dirty="0">
                <a:solidFill>
                  <a:srgbClr val="333333"/>
                </a:solidFill>
                <a:effectLst/>
                <a:latin typeface="Segoe UI Emoji" panose="020B0502040204020203" pitchFamily="34" charset="0"/>
              </a:rPr>
              <a:t>😏</a:t>
            </a:r>
            <a:endParaRPr lang="en-US" sz="4400" dirty="0"/>
          </a:p>
        </p:txBody>
      </p:sp>
      <p:sp>
        <p:nvSpPr>
          <p:cNvPr id="7" name="Google Shape;125;p17">
            <a:extLst>
              <a:ext uri="{FF2B5EF4-FFF2-40B4-BE49-F238E27FC236}">
                <a16:creationId xmlns:a16="http://schemas.microsoft.com/office/drawing/2014/main" id="{C4CFAA55-37BB-4387-BA0C-0D06D1D8C162}"/>
              </a:ext>
            </a:extLst>
          </p:cNvPr>
          <p:cNvSpPr txBox="1">
            <a:spLocks/>
          </p:cNvSpPr>
          <p:nvPr/>
        </p:nvSpPr>
        <p:spPr>
          <a:xfrm>
            <a:off x="1032927" y="3253260"/>
            <a:ext cx="6462600" cy="1348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342900">
              <a:buSzPts val="1800"/>
            </a:pPr>
            <a:r>
              <a:rPr lang="en-US" sz="1400" dirty="0"/>
              <a:t>What kind of things are in the list? </a:t>
            </a:r>
            <a:r>
              <a:rPr lang="en-US" sz="1400" dirty="0">
                <a:solidFill>
                  <a:schemeClr val="accent4"/>
                </a:solidFill>
              </a:rPr>
              <a:t>It represents the game board</a:t>
            </a:r>
          </a:p>
          <a:p>
            <a:pPr indent="-342900">
              <a:buSzPts val="1800"/>
            </a:pPr>
            <a:r>
              <a:rPr lang="en-US" sz="1400" dirty="0"/>
              <a:t>What is the significance of the first element in the list? </a:t>
            </a:r>
            <a:r>
              <a:rPr lang="en-US" sz="1400" dirty="0">
                <a:solidFill>
                  <a:schemeClr val="accent4"/>
                </a:solidFill>
              </a:rPr>
              <a:t>It is the location of a status value</a:t>
            </a:r>
            <a:endParaRPr lang="en-US" sz="1400" dirty="0"/>
          </a:p>
          <a:p>
            <a:pPr indent="-342900">
              <a:buSzPts val="1800"/>
            </a:pPr>
            <a:r>
              <a:rPr lang="en-US" sz="1400" dirty="0"/>
              <a:t>What is the significance of the value 4? </a:t>
            </a:r>
            <a:r>
              <a:rPr lang="en-US" sz="1400" dirty="0">
                <a:solidFill>
                  <a:schemeClr val="accent4"/>
                </a:solidFill>
              </a:rPr>
              <a:t>Status == Flagged</a:t>
            </a:r>
            <a:endParaRPr lang="en-US" sz="1400" dirty="0"/>
          </a:p>
          <a:p>
            <a:pPr indent="-342900">
              <a:buSzPts val="1800"/>
            </a:pPr>
            <a:r>
              <a:rPr lang="en-US" sz="1400" dirty="0"/>
              <a:t>How  do we use the list being returned? </a:t>
            </a:r>
            <a:r>
              <a:rPr lang="en-US" sz="1400" dirty="0">
                <a:solidFill>
                  <a:schemeClr val="accent4"/>
                </a:solidFill>
              </a:rPr>
              <a:t>It is a list of flagged cells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EEEFE0-CA2B-409D-918D-E559C5CC6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858" y="1314017"/>
            <a:ext cx="5730737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532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Intention Revealing Names Contd.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583" y="767755"/>
            <a:ext cx="6137100" cy="491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400" dirty="0"/>
              <a:t>Improving it further</a:t>
            </a:r>
            <a:endParaRPr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B0DE9C-071E-462D-B2AF-B81FF368F1BF}"/>
              </a:ext>
            </a:extLst>
          </p:cNvPr>
          <p:cNvSpPr txBox="1"/>
          <p:nvPr/>
        </p:nvSpPr>
        <p:spPr>
          <a:xfrm>
            <a:off x="7310205" y="1352366"/>
            <a:ext cx="14546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5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lang="en-US" sz="4400" dirty="0"/>
          </a:p>
        </p:txBody>
      </p:sp>
      <p:sp>
        <p:nvSpPr>
          <p:cNvPr id="7" name="Google Shape;125;p17">
            <a:extLst>
              <a:ext uri="{FF2B5EF4-FFF2-40B4-BE49-F238E27FC236}">
                <a16:creationId xmlns:a16="http://schemas.microsoft.com/office/drawing/2014/main" id="{C4CFAA55-37BB-4387-BA0C-0D06D1D8C162}"/>
              </a:ext>
            </a:extLst>
          </p:cNvPr>
          <p:cNvSpPr txBox="1">
            <a:spLocks/>
          </p:cNvSpPr>
          <p:nvPr/>
        </p:nvSpPr>
        <p:spPr>
          <a:xfrm>
            <a:off x="1032927" y="3253260"/>
            <a:ext cx="6462600" cy="1348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342900">
              <a:buSzPts val="1800"/>
            </a:pPr>
            <a:r>
              <a:rPr lang="en-US" sz="1400" dirty="0"/>
              <a:t>Class introduced for Cell</a:t>
            </a:r>
          </a:p>
          <a:p>
            <a:pPr indent="-342900">
              <a:buSzPts val="1800"/>
            </a:pPr>
            <a:r>
              <a:rPr lang="en-US" sz="1400" dirty="0" err="1"/>
              <a:t>isFlagged</a:t>
            </a:r>
            <a:r>
              <a:rPr lang="en-US" sz="1400" dirty="0"/>
              <a:t> function used to hide magic numbers</a:t>
            </a:r>
          </a:p>
          <a:p>
            <a:pPr indent="-342900">
              <a:buSzPts val="1800"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0AA14-027E-4999-BA36-19DA831B2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062" y="1527120"/>
            <a:ext cx="5265876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139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Avoid Disinformation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692737" y="2102580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202994" y="2121807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Don’t make others lead to false conclusions about your code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443E19-7CA4-43D1-8487-53C9B5099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37" y="2940423"/>
            <a:ext cx="4355049" cy="6371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9300E6-8479-4EF1-9CC1-CAB9D03F8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94" y="2940423"/>
            <a:ext cx="3551931" cy="55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4520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Make Meaningful Distinctions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692737" y="2102580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202994" y="2121807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Ex: number series naming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Noninformative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Provide no clue to the reader</a:t>
            </a:r>
            <a:endParaRPr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14A9C-3CFF-47D9-A6ED-53349DB92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37" y="2773968"/>
            <a:ext cx="4092031" cy="1179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E3AB4C-8B93-44AF-94E4-4A82D19EF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770" y="2796442"/>
            <a:ext cx="3951852" cy="87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34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Pronouncable Names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364707" y="2127451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202994" y="2121807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“</a:t>
            </a:r>
            <a:r>
              <a:rPr lang="en-US" sz="1400" dirty="0" err="1"/>
              <a:t>genymdhms</a:t>
            </a:r>
            <a:r>
              <a:rPr lang="en-US" sz="1400" dirty="0"/>
              <a:t>” – can you pronounce this?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200" dirty="0"/>
              <a:t> generation date, year, month, day, hour, minute, and second)</a:t>
            </a:r>
            <a:r>
              <a:rPr lang="en-US" sz="14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969CBA-0CD1-4BB8-98CD-DCE36FA72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78" y="2941633"/>
            <a:ext cx="4183743" cy="13412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8B8C91-DEC3-482E-9085-C0F0B672D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94" y="2879002"/>
            <a:ext cx="3712782" cy="112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474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Searchable Names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364707" y="259157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125000" y="2545135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Single letter names should only be used as local variables inside very small methods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Length of the name should correspond to the size of the scope</a:t>
            </a:r>
          </a:p>
          <a:p>
            <a:pPr indent="-342900">
              <a:buSzPts val="1800"/>
            </a:pPr>
            <a:r>
              <a:rPr lang="en-US" sz="1400" dirty="0"/>
              <a:t>If a variable might be used in multiple places in a body of code, you must give it a searchable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446A21-7BB2-46C2-8326-7A1002C16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07" y="3343130"/>
            <a:ext cx="2911092" cy="838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81EFA7-66E6-424F-B714-7E0A9F2EC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478" y="3144096"/>
            <a:ext cx="5077522" cy="145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487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Avoid Encodings – Hungarian Notation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364707" y="259157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28336" y="254963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This  was used when there were limitations in type checking and strong typing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E2730F-5B79-41FD-8749-E557E6BB3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23" y="3426091"/>
            <a:ext cx="3543607" cy="6553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83CC66-5271-451E-B1AF-FDF68DFD3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824" y="3281298"/>
            <a:ext cx="2644369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90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Avoid Encodings – Member Prefixes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364707" y="259157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28336" y="254963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You don’t need to prefix member or instance variables with “m_”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70131D-5B2B-4A3A-8BF1-4546BC50B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48" y="3352491"/>
            <a:ext cx="3876326" cy="1000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BF9A18-58DE-44C6-B7B9-8C44A334D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441" y="3352491"/>
            <a:ext cx="3756373" cy="113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222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Avoid Encodings – Interfaces and Implementations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39365" y="192723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55422" y="199732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Users don’t need to know whether they are using an interface or abstract class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2FADD4-874E-4C89-AFED-520E577A0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37" y="2688151"/>
            <a:ext cx="3551228" cy="777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A33CEF-67C0-4CBF-8963-37457335B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5" y="3731656"/>
            <a:ext cx="3835269" cy="6307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AB0158-FDBC-4431-BA20-6B803A860D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773" y="2688151"/>
            <a:ext cx="3200677" cy="8611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8D2BFE-756F-43C5-8A00-8CC4715A6C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4119" y="3681956"/>
            <a:ext cx="3939881" cy="109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363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Avoid Mental Mappings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39365" y="192723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55422" y="199732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Readers shouldn’t have to mentally translate your names into other names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035B58-BB1B-4F06-A0E5-631013889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760" y="2664552"/>
            <a:ext cx="3990351" cy="21221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FC56B1-6B27-45C4-B380-357A01D3E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5" y="2658102"/>
            <a:ext cx="3255557" cy="229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191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Class Names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39365" y="192723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55422" y="199732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Classes and objects should have Noun or Noun phrase Names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SHOULD NOT BE A VERB</a:t>
            </a:r>
          </a:p>
        </p:txBody>
      </p:sp>
      <p:sp>
        <p:nvSpPr>
          <p:cNvPr id="9" name="Google Shape;153;p20">
            <a:extLst>
              <a:ext uri="{FF2B5EF4-FFF2-40B4-BE49-F238E27FC236}">
                <a16:creationId xmlns:a16="http://schemas.microsoft.com/office/drawing/2014/main" id="{51847B4A-805D-4200-8A4C-8AEFF1AAC85A}"/>
              </a:ext>
            </a:extLst>
          </p:cNvPr>
          <p:cNvSpPr txBox="1">
            <a:spLocks/>
          </p:cNvSpPr>
          <p:nvPr/>
        </p:nvSpPr>
        <p:spPr>
          <a:xfrm>
            <a:off x="522889" y="2601314"/>
            <a:ext cx="2371200" cy="133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1200" b="1" dirty="0"/>
              <a:t>Manager</a:t>
            </a:r>
          </a:p>
          <a:p>
            <a:pPr marL="0" indent="0">
              <a:buFont typeface="Lato"/>
              <a:buNone/>
            </a:pPr>
            <a:r>
              <a:rPr lang="en-US" sz="1200" b="1" dirty="0"/>
              <a:t>Processor</a:t>
            </a:r>
          </a:p>
          <a:p>
            <a:pPr marL="0" indent="0">
              <a:buFont typeface="Lato"/>
              <a:buNone/>
            </a:pPr>
            <a:r>
              <a:rPr lang="en-US" sz="1200" b="1" dirty="0"/>
              <a:t>Data</a:t>
            </a:r>
          </a:p>
          <a:p>
            <a:pPr marL="0" indent="0">
              <a:buFont typeface="Lato"/>
              <a:buNone/>
            </a:pPr>
            <a:r>
              <a:rPr lang="en-US" sz="1200" b="1" dirty="0"/>
              <a:t>Info</a:t>
            </a:r>
            <a:endParaRPr lang="en-US" sz="1200" dirty="0"/>
          </a:p>
        </p:txBody>
      </p:sp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B03E22AB-9243-4AF6-8B4F-C3E2FE1A4C24}"/>
              </a:ext>
            </a:extLst>
          </p:cNvPr>
          <p:cNvSpPr txBox="1">
            <a:spLocks/>
          </p:cNvSpPr>
          <p:nvPr/>
        </p:nvSpPr>
        <p:spPr>
          <a:xfrm>
            <a:off x="5155422" y="2601314"/>
            <a:ext cx="2371200" cy="133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1200" b="1" dirty="0"/>
              <a:t>Customer</a:t>
            </a:r>
          </a:p>
          <a:p>
            <a:pPr marL="0" indent="0">
              <a:buFont typeface="Lato"/>
              <a:buNone/>
            </a:pPr>
            <a:r>
              <a:rPr lang="en-US" sz="1200" b="1" dirty="0"/>
              <a:t>Account</a:t>
            </a:r>
          </a:p>
          <a:p>
            <a:pPr marL="0" indent="0">
              <a:buFont typeface="Lato"/>
              <a:buNone/>
            </a:pPr>
            <a:r>
              <a:rPr lang="en-US" sz="1200" b="1" dirty="0"/>
              <a:t>Address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AddressParser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179271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Method Names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39365" y="192723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55422" y="199732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Methods should have Verb or Verb phrase Names</a:t>
            </a:r>
          </a:p>
        </p:txBody>
      </p:sp>
      <p:sp>
        <p:nvSpPr>
          <p:cNvPr id="9" name="Google Shape;153;p20">
            <a:extLst>
              <a:ext uri="{FF2B5EF4-FFF2-40B4-BE49-F238E27FC236}">
                <a16:creationId xmlns:a16="http://schemas.microsoft.com/office/drawing/2014/main" id="{51847B4A-805D-4200-8A4C-8AEFF1AAC85A}"/>
              </a:ext>
            </a:extLst>
          </p:cNvPr>
          <p:cNvSpPr txBox="1">
            <a:spLocks/>
          </p:cNvSpPr>
          <p:nvPr/>
        </p:nvSpPr>
        <p:spPr>
          <a:xfrm>
            <a:off x="522889" y="2601314"/>
            <a:ext cx="2371200" cy="133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1200" b="1" dirty="0"/>
              <a:t>customer.name(“John”);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report.data</a:t>
            </a:r>
            <a:r>
              <a:rPr lang="en-US" sz="1200" b="1" dirty="0"/>
              <a:t>();</a:t>
            </a:r>
            <a:endParaRPr lang="en-US" sz="1200" dirty="0"/>
          </a:p>
        </p:txBody>
      </p:sp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B03E22AB-9243-4AF6-8B4F-C3E2FE1A4C24}"/>
              </a:ext>
            </a:extLst>
          </p:cNvPr>
          <p:cNvSpPr txBox="1">
            <a:spLocks/>
          </p:cNvSpPr>
          <p:nvPr/>
        </p:nvSpPr>
        <p:spPr>
          <a:xfrm>
            <a:off x="5155422" y="2601314"/>
            <a:ext cx="2371200" cy="133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1200" b="1" dirty="0" err="1"/>
              <a:t>supplier.postPayment</a:t>
            </a:r>
            <a:r>
              <a:rPr lang="en-US" sz="1200" b="1" dirty="0"/>
              <a:t>(address);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report.save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customer.getName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customer.setName</a:t>
            </a:r>
            <a:r>
              <a:rPr lang="en-US" sz="1200" b="1" dirty="0"/>
              <a:t>(“John”);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833905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One word per concept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39365" y="192723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55422" y="199732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 Ex: it’s confusing to have fetch, retrieve, and get as equivalent methods of different classes</a:t>
            </a:r>
          </a:p>
        </p:txBody>
      </p:sp>
      <p:sp>
        <p:nvSpPr>
          <p:cNvPr id="9" name="Google Shape;153;p20">
            <a:extLst>
              <a:ext uri="{FF2B5EF4-FFF2-40B4-BE49-F238E27FC236}">
                <a16:creationId xmlns:a16="http://schemas.microsoft.com/office/drawing/2014/main" id="{51847B4A-805D-4200-8A4C-8AEFF1AAC85A}"/>
              </a:ext>
            </a:extLst>
          </p:cNvPr>
          <p:cNvSpPr txBox="1">
            <a:spLocks/>
          </p:cNvSpPr>
          <p:nvPr/>
        </p:nvSpPr>
        <p:spPr>
          <a:xfrm>
            <a:off x="522888" y="2601314"/>
            <a:ext cx="2926556" cy="133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1200" b="1" dirty="0" err="1"/>
              <a:t>monthlyReport.getCustomers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monthlyReport.fetchLoyalCustomers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monthlyReport.retreiveSuppliers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endParaRPr lang="en-US" sz="1200" dirty="0"/>
          </a:p>
        </p:txBody>
      </p:sp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B03E22AB-9243-4AF6-8B4F-C3E2FE1A4C24}"/>
              </a:ext>
            </a:extLst>
          </p:cNvPr>
          <p:cNvSpPr txBox="1">
            <a:spLocks/>
          </p:cNvSpPr>
          <p:nvPr/>
        </p:nvSpPr>
        <p:spPr>
          <a:xfrm>
            <a:off x="5155421" y="2601314"/>
            <a:ext cx="3118783" cy="133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1200" b="1" dirty="0" err="1"/>
              <a:t>monthlyReport.getCustomers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monthlyReport.getLoyalCustomers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monthlyReport.getSuppliers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124958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Solution Domain Names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53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Readers are also programmers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Use Computer Science terms in code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 err="1"/>
              <a:t>BubbleSort</a:t>
            </a:r>
            <a:r>
              <a:rPr lang="en-US" sz="1400" dirty="0"/>
              <a:t>, </a:t>
            </a:r>
            <a:r>
              <a:rPr lang="en-US" sz="1400" dirty="0" err="1"/>
              <a:t>AccountVisitor</a:t>
            </a:r>
            <a:r>
              <a:rPr lang="en-US" sz="1400" dirty="0"/>
              <a:t>, </a:t>
            </a:r>
            <a:r>
              <a:rPr lang="en-US" sz="1400" dirty="0" err="1"/>
              <a:t>JobQueue</a:t>
            </a:r>
            <a:endParaRPr lang="en-US" sz="1400" dirty="0"/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endParaRPr lang="en-US" sz="1400" dirty="0"/>
          </a:p>
        </p:txBody>
      </p:sp>
      <p:sp>
        <p:nvSpPr>
          <p:cNvPr id="11" name="Google Shape;93;p13">
            <a:extLst>
              <a:ext uri="{FF2B5EF4-FFF2-40B4-BE49-F238E27FC236}">
                <a16:creationId xmlns:a16="http://schemas.microsoft.com/office/drawing/2014/main" id="{EDA12E6F-B551-41F7-83E7-4CFACAA66BA2}"/>
              </a:ext>
            </a:extLst>
          </p:cNvPr>
          <p:cNvSpPr txBox="1">
            <a:spLocks/>
          </p:cNvSpPr>
          <p:nvPr/>
        </p:nvSpPr>
        <p:spPr>
          <a:xfrm>
            <a:off x="893700" y="2571750"/>
            <a:ext cx="7628100" cy="422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000" dirty="0"/>
              <a:t>Use Problem Domain Names</a:t>
            </a:r>
          </a:p>
        </p:txBody>
      </p:sp>
      <p:sp>
        <p:nvSpPr>
          <p:cNvPr id="12" name="Google Shape;125;p17">
            <a:extLst>
              <a:ext uri="{FF2B5EF4-FFF2-40B4-BE49-F238E27FC236}">
                <a16:creationId xmlns:a16="http://schemas.microsoft.com/office/drawing/2014/main" id="{DD33A740-D83E-4182-8E34-97EDB42FA899}"/>
              </a:ext>
            </a:extLst>
          </p:cNvPr>
          <p:cNvSpPr txBox="1">
            <a:spLocks/>
          </p:cNvSpPr>
          <p:nvPr/>
        </p:nvSpPr>
        <p:spPr>
          <a:xfrm>
            <a:off x="823075" y="2971720"/>
            <a:ext cx="6462600" cy="819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342900">
              <a:buSzPts val="1800"/>
            </a:pPr>
            <a:r>
              <a:rPr lang="en-US" sz="1400" dirty="0"/>
              <a:t>When you don’t have words from the solution domain, use names from the problem domain	</a:t>
            </a:r>
          </a:p>
        </p:txBody>
      </p:sp>
    </p:spTree>
    <p:extLst>
      <p:ext uri="{BB962C8B-B14F-4D97-AF65-F5344CB8AC3E}">
        <p14:creationId xmlns:p14="http://schemas.microsoft.com/office/powerpoint/2010/main" val="18963094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Don’t Add Unncessary Context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39365" y="192723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55422" y="199732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54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Add no more context to a name than necessary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Shorter names are </a:t>
            </a:r>
            <a:r>
              <a:rPr lang="en-US" sz="1400" b="1" dirty="0"/>
              <a:t>generally </a:t>
            </a:r>
            <a:r>
              <a:rPr lang="en-US" sz="1400" dirty="0"/>
              <a:t>better than larger ones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B2646-477B-405E-87CB-E87A16FBA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90" y="2650543"/>
            <a:ext cx="3253057" cy="1482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91B688-76A0-4206-8EFD-71EEAE018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322" y="2732789"/>
            <a:ext cx="2470454" cy="124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321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2.</a:t>
            </a:r>
            <a:endParaRPr sz="7200" dirty="0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Functions</a:t>
            </a:r>
            <a:endParaRPr dirty="0"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Ref: Clean Code – Robert C. Martin</a:t>
            </a:r>
            <a:br>
              <a:rPr lang="en" sz="2000" dirty="0"/>
            </a:br>
            <a:r>
              <a:rPr lang="en" sz="2000" dirty="0"/>
              <a:t>Chapter 3</a:t>
            </a:r>
            <a:endParaRPr sz="2000" dirty="0"/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8078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893700" y="2675"/>
            <a:ext cx="2483700" cy="234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ctrTitle" idx="4294967295"/>
          </p:nvPr>
        </p:nvSpPr>
        <p:spPr>
          <a:xfrm>
            <a:off x="778225" y="2383444"/>
            <a:ext cx="6623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lt1"/>
                </a:solidFill>
              </a:rPr>
              <a:t>SMALL!!</a:t>
            </a:r>
            <a:endParaRPr sz="7200" dirty="0">
              <a:solidFill>
                <a:schemeClr val="lt1"/>
              </a:solidFill>
            </a:endParaRPr>
          </a:p>
        </p:txBody>
      </p:sp>
      <p:sp>
        <p:nvSpPr>
          <p:cNvPr id="133" name="Google Shape;133;p18"/>
          <p:cNvSpPr txBox="1">
            <a:spLocks noGrp="1"/>
          </p:cNvSpPr>
          <p:nvPr>
            <p:ph type="subTitle" idx="4294967295"/>
          </p:nvPr>
        </p:nvSpPr>
        <p:spPr>
          <a:xfrm>
            <a:off x="778225" y="3697313"/>
            <a:ext cx="6623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</a:rPr>
              <a:t>Rule 1:</a:t>
            </a:r>
            <a:r>
              <a:rPr lang="en" sz="2400" dirty="0">
                <a:solidFill>
                  <a:schemeClr val="lt1"/>
                </a:solidFill>
              </a:rPr>
              <a:t> Functions Should be Small!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</a:rPr>
              <a:t>Rule 2:</a:t>
            </a:r>
            <a:r>
              <a:rPr lang="en" dirty="0">
                <a:solidFill>
                  <a:schemeClr val="lt1"/>
                </a:solidFill>
              </a:rPr>
              <a:t> They should be smaller than that!!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56</a:t>
            </a:fld>
            <a:endParaRPr/>
          </a:p>
        </p:txBody>
      </p:sp>
      <p:grpSp>
        <p:nvGrpSpPr>
          <p:cNvPr id="11" name="Google Shape;814;p47">
            <a:extLst>
              <a:ext uri="{FF2B5EF4-FFF2-40B4-BE49-F238E27FC236}">
                <a16:creationId xmlns:a16="http://schemas.microsoft.com/office/drawing/2014/main" id="{D0164538-84DC-4DE5-A591-DD24E5381C5C}"/>
              </a:ext>
            </a:extLst>
          </p:cNvPr>
          <p:cNvGrpSpPr/>
          <p:nvPr/>
        </p:nvGrpSpPr>
        <p:grpSpPr>
          <a:xfrm>
            <a:off x="1098775" y="0"/>
            <a:ext cx="2073549" cy="2116248"/>
            <a:chOff x="3955900" y="2984500"/>
            <a:chExt cx="414000" cy="422525"/>
          </a:xfrm>
        </p:grpSpPr>
        <p:sp>
          <p:nvSpPr>
            <p:cNvPr id="12" name="Google Shape;815;p47">
              <a:extLst>
                <a:ext uri="{FF2B5EF4-FFF2-40B4-BE49-F238E27FC236}">
                  <a16:creationId xmlns:a16="http://schemas.microsoft.com/office/drawing/2014/main" id="{9E50BEBC-985A-453A-8155-0A6D11761D52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16;p47">
              <a:extLst>
                <a:ext uri="{FF2B5EF4-FFF2-40B4-BE49-F238E27FC236}">
                  <a16:creationId xmlns:a16="http://schemas.microsoft.com/office/drawing/2014/main" id="{1957CFAB-8B6C-4ED2-8897-D7639E30D98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17;p47">
              <a:extLst>
                <a:ext uri="{FF2B5EF4-FFF2-40B4-BE49-F238E27FC236}">
                  <a16:creationId xmlns:a16="http://schemas.microsoft.com/office/drawing/2014/main" id="{64534D8E-D670-41CA-8BF2-35EC81205A4F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098237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Blocks and Indenting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323069" y="1718241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NOT THE BEST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789200" y="171824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57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Keep code within if, else, while etc. blocks to one 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F8EEA7-8BED-4938-9B68-AC8D60891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79" y="2508655"/>
            <a:ext cx="3866374" cy="19898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AC9199-7D4D-4A2A-BBAF-07BA2B0EC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349" y="2464385"/>
            <a:ext cx="3678701" cy="80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995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FUNCTIONS SHOULD DO ONE THING. THEY SHOULD DO IT WELL.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THEY SHOULD DO IT ONLY.</a:t>
            </a:r>
            <a:endParaRPr dirty="0"/>
          </a:p>
        </p:txBody>
      </p:sp>
      <p:sp>
        <p:nvSpPr>
          <p:cNvPr id="119" name="Google Shape;119;p16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30364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One Level of Abstraction per Function</a:t>
            </a:r>
            <a:endParaRPr dirty="0"/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893700" y="1373588"/>
            <a:ext cx="6462600" cy="1198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600" dirty="0"/>
              <a:t>Concepts at a higher level of abstraction should not be mixed with concepts at a lower level of abstraction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600" dirty="0"/>
              <a:t>Follow the step-down rule</a:t>
            </a:r>
            <a:endParaRPr sz="16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235D32-FF73-49F6-AC11-89B7B0B72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331" y="2686163"/>
            <a:ext cx="6744284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795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Descriptive Names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60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Long descriptive names are better than short confusing names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Spend time to choose a good name.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Try several different names and read the code</a:t>
            </a:r>
          </a:p>
          <a:p>
            <a:pPr indent="-342900">
              <a:buSzPts val="1800"/>
            </a:pPr>
            <a:r>
              <a:rPr lang="en-US" sz="1400" dirty="0"/>
              <a:t>Be consistent with names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Name should answer all the big questions: Why, What, How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If a name requires a comment, then the intent is not revealed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3432209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Function Arguments/Parameters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61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Ideally zero parameters (Niladic)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Next, one parameter (Monadic)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Next, two parameters (Dyadic)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Next, three parameters (Triadic) – Try to avoid where possible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More than three (Polyadic) – Must Avoid or </a:t>
            </a:r>
            <a:r>
              <a:rPr lang="en-US" sz="1400" dirty="0" err="1"/>
              <a:t>atleast</a:t>
            </a:r>
            <a:r>
              <a:rPr lang="en-US" sz="1400" dirty="0"/>
              <a:t> have a good justification</a:t>
            </a:r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0900307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Function Arguments/Parameters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62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When more than two or three arguments are required, the arguments can be wrapped into a class of their own.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lang="en-US" sz="1400" dirty="0"/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C21A07-2FA1-4CD6-AEC6-10CC089EC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598" y="2186906"/>
            <a:ext cx="6050804" cy="769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276B42-9553-4E6D-8A2B-AC2312EC6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598" y="2186906"/>
            <a:ext cx="6050804" cy="7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803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Have No Side Effects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63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Function promises to do one thing, but it also does other hidden things.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lang="en-US" sz="1400" dirty="0"/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30A030-C99D-416A-B837-F8DF3D959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563" y="1491904"/>
            <a:ext cx="5730737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314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Command Query Separation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64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Functions should either do something or answer something but not both.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lang="en-US" sz="1400" dirty="0"/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656501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3.</a:t>
            </a:r>
            <a:endParaRPr sz="7200" dirty="0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Comments</a:t>
            </a:r>
            <a:endParaRPr dirty="0"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Ref: Clean Code – Robert C. Martin</a:t>
            </a:r>
            <a:br>
              <a:rPr lang="en" sz="2000" dirty="0"/>
            </a:br>
            <a:r>
              <a:rPr lang="en" sz="2000" dirty="0"/>
              <a:t>Chapter 4</a:t>
            </a:r>
            <a:endParaRPr sz="2000" dirty="0"/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49847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Comments do not make up for bad code!</a:t>
            </a:r>
            <a:endParaRPr dirty="0"/>
          </a:p>
        </p:txBody>
      </p:sp>
      <p:sp>
        <p:nvSpPr>
          <p:cNvPr id="119" name="Google Shape;119;p16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4586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Explain yourself in code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261798" y="2119488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490000" y="2119488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67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Which would you rather see?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D2F919-369E-49AA-BDD6-FF4D38203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82" y="3219782"/>
            <a:ext cx="4612703" cy="572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CDDDF7-8F7C-463A-AB12-8A09E8B7B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870" y="3219782"/>
            <a:ext cx="3558848" cy="41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318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Informative Comments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261798" y="2119488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707750" y="211246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68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57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Use the name of the function to convey information where possible</a:t>
            </a:r>
            <a:endParaRPr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A963DB-A2BF-4DB9-9AFF-2ED692C3F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98" y="2833764"/>
            <a:ext cx="3772645" cy="6026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777567-D1D0-4126-B315-CFCCE9086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750" y="2734014"/>
            <a:ext cx="3864876" cy="5568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990A91-12D6-4084-B5E4-169E1A20E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970" y="3419543"/>
            <a:ext cx="3292125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009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Explanation of Intent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69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57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Use comments to communicate decisions that were made</a:t>
            </a: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171C17-510E-4E52-837B-FFE14D8D3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701" y="1514661"/>
            <a:ext cx="5974598" cy="17146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B757B-0C4B-4226-B73E-76EB1B94D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392" y="3398137"/>
            <a:ext cx="6309907" cy="14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422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TODO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70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57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TODOs can be used to indicate work left for later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Must be regularly cleaned and reduced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E08545-93A1-4111-AF78-4E943D1FF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973" y="1758497"/>
            <a:ext cx="3856054" cy="11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168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Amplification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71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57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Use comments to amplify the importance of something</a:t>
            </a: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75CD04-161F-4F68-935E-B481C31B6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707" y="1514661"/>
            <a:ext cx="5060118" cy="12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947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If you decide to write a comment, then spend the time necessary to make sure it is the best comment you can write</a:t>
            </a:r>
            <a:endParaRPr dirty="0"/>
          </a:p>
        </p:txBody>
      </p:sp>
      <p:sp>
        <p:nvSpPr>
          <p:cNvPr id="119" name="Google Shape;119;p16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70806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Redundant Comments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73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57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Reading the code itself might be faster than reading redundant/repetitive comments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D0879-7BB5-4459-AD8C-9A5916654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012" y="1825085"/>
            <a:ext cx="6187976" cy="208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96254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Mandated Comments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74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57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Not every function/param needs to have a Javadoc</a:t>
            </a: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F9860E-4AAD-4BF0-8C34-83CF03774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312" y="1648842"/>
            <a:ext cx="5486875" cy="27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110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4.</a:t>
            </a:r>
            <a:endParaRPr sz="7200" dirty="0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Formatting</a:t>
            </a:r>
            <a:endParaRPr dirty="0"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Ref: Clean Code – Robert C. Martin</a:t>
            </a:r>
            <a:br>
              <a:rPr lang="en" sz="2000" dirty="0"/>
            </a:br>
            <a:r>
              <a:rPr lang="en" sz="2000" dirty="0"/>
              <a:t>Chapter 4</a:t>
            </a:r>
            <a:endParaRPr sz="2000" dirty="0"/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65854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Vertical Formatting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76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Try to maintain an upper limit of 500 lines per file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Should read like a newspaper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First paragraph gives a synopsis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As you go down, details are revealed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5959172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Vertical Openness between concepts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AED15F-5FBB-41F3-9313-9A74BBB4B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750" y="1740185"/>
            <a:ext cx="4248529" cy="26728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98E75E-ED7B-47B3-8E5E-6B1FD7569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066" y="1854427"/>
            <a:ext cx="4314016" cy="2003895"/>
          </a:xfrm>
          <a:prstGeom prst="rect">
            <a:avLst/>
          </a:prstGeom>
        </p:spPr>
      </p:pic>
      <p:sp>
        <p:nvSpPr>
          <p:cNvPr id="10" name="Google Shape;94;p13">
            <a:extLst>
              <a:ext uri="{FF2B5EF4-FFF2-40B4-BE49-F238E27FC236}">
                <a16:creationId xmlns:a16="http://schemas.microsoft.com/office/drawing/2014/main" id="{CF847189-561C-4117-B58B-889747D4B575}"/>
              </a:ext>
            </a:extLst>
          </p:cNvPr>
          <p:cNvSpPr txBox="1"/>
          <p:nvPr/>
        </p:nvSpPr>
        <p:spPr>
          <a:xfrm>
            <a:off x="241066" y="875254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95;p13">
            <a:extLst>
              <a:ext uri="{FF2B5EF4-FFF2-40B4-BE49-F238E27FC236}">
                <a16:creationId xmlns:a16="http://schemas.microsoft.com/office/drawing/2014/main" id="{9182D5B9-B3D5-48DE-AF10-F472CF4A6A0B}"/>
              </a:ext>
            </a:extLst>
          </p:cNvPr>
          <p:cNvSpPr txBox="1"/>
          <p:nvPr/>
        </p:nvSpPr>
        <p:spPr>
          <a:xfrm>
            <a:off x="4707750" y="898158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724890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Vertical Distance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78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Variables should be declared as close to their usage as possible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Instance variables, should be declared at the top of the class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If one function calls another, they should be vertically close, and the caller should be above the callee, if at all possible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https://plugins.jetbrains.com/plugin/11005-clean-code-method-rearranger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0013237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Horizontal Formatting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79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Prefer short lines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Prefer Max 80 characters per line</a:t>
            </a:r>
          </a:p>
          <a:p>
            <a:pPr indent="-342900">
              <a:buSzPts val="1800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854672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Indentation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80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Avoid collapsing scopes to one line</a:t>
            </a:r>
          </a:p>
          <a:p>
            <a:pPr indent="-342900">
              <a:buSzPts val="1800"/>
            </a:pPr>
            <a:endParaRPr lang="en-US" sz="1400" dirty="0"/>
          </a:p>
        </p:txBody>
      </p:sp>
      <p:sp>
        <p:nvSpPr>
          <p:cNvPr id="5" name="Google Shape;94;p13">
            <a:extLst>
              <a:ext uri="{FF2B5EF4-FFF2-40B4-BE49-F238E27FC236}">
                <a16:creationId xmlns:a16="http://schemas.microsoft.com/office/drawing/2014/main" id="{9F4C190E-75CA-42B6-9B5E-B91937A00BBD}"/>
              </a:ext>
            </a:extLst>
          </p:cNvPr>
          <p:cNvSpPr txBox="1"/>
          <p:nvPr/>
        </p:nvSpPr>
        <p:spPr>
          <a:xfrm>
            <a:off x="829991" y="1395645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95;p13">
            <a:extLst>
              <a:ext uri="{FF2B5EF4-FFF2-40B4-BE49-F238E27FC236}">
                <a16:creationId xmlns:a16="http://schemas.microsoft.com/office/drawing/2014/main" id="{B24AE647-41F4-4267-935E-06E5A7F1570C}"/>
              </a:ext>
            </a:extLst>
          </p:cNvPr>
          <p:cNvSpPr txBox="1"/>
          <p:nvPr/>
        </p:nvSpPr>
        <p:spPr>
          <a:xfrm>
            <a:off x="5296675" y="1418549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79E4EC-E32D-4925-80C2-E6491AB4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4360"/>
            <a:ext cx="5023163" cy="937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AC9DCD-9E2A-417F-8B32-D61D54D63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163" y="2283064"/>
            <a:ext cx="3944760" cy="129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616001"/>
      </p:ext>
    </p:extLst>
  </p:cSld>
  <p:clrMapOvr>
    <a:masterClrMapping/>
  </p:clrMapOvr>
</p:sld>
</file>

<file path=ppt/theme/theme1.xml><?xml version="1.0" encoding="utf-8"?>
<a:theme xmlns:a="http://schemas.openxmlformats.org/drawingml/2006/main" name="Antonio templat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1878</TotalTime>
  <Words>2500</Words>
  <Application>Microsoft Office PowerPoint</Application>
  <PresentationFormat>On-screen Show (16:9)</PresentationFormat>
  <Paragraphs>455</Paragraphs>
  <Slides>80</Slides>
  <Notes>80</Notes>
  <HiddenSlides>44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6" baseType="lpstr">
      <vt:lpstr>Segoe UI Emoji</vt:lpstr>
      <vt:lpstr>Raleway</vt:lpstr>
      <vt:lpstr>Arial</vt:lpstr>
      <vt:lpstr>Lato</vt:lpstr>
      <vt:lpstr>Montserrat</vt:lpstr>
      <vt:lpstr>Antonio template</vt:lpstr>
      <vt:lpstr>Clean Coding Principles Continued</vt:lpstr>
      <vt:lpstr>5. Objects &amp; Data Structures</vt:lpstr>
      <vt:lpstr>Data Abstraction</vt:lpstr>
      <vt:lpstr>Abstraction</vt:lpstr>
      <vt:lpstr>Objects vs. Data Structures</vt:lpstr>
      <vt:lpstr>Exercise</vt:lpstr>
      <vt:lpstr>Objects (OOP) vs. Data Structures (Procedural)</vt:lpstr>
      <vt:lpstr>Objects (OOP) vs. Data Structures (Procedural)</vt:lpstr>
      <vt:lpstr>Data Transfer Objects</vt:lpstr>
      <vt:lpstr>Data Transfer Objects</vt:lpstr>
      <vt:lpstr>Active Record</vt:lpstr>
      <vt:lpstr>6. Error Handling</vt:lpstr>
      <vt:lpstr>Don’t use Return Codes</vt:lpstr>
      <vt:lpstr>Exceptions in Java</vt:lpstr>
      <vt:lpstr>Checked vs. Unchecked Exceptions</vt:lpstr>
      <vt:lpstr>Exception  Handling Best Practices</vt:lpstr>
      <vt:lpstr>Exception  Handling Best Practices</vt:lpstr>
      <vt:lpstr>Exception  Handling Best Practices</vt:lpstr>
      <vt:lpstr>Exception  Handling Best Practices</vt:lpstr>
      <vt:lpstr>Exception  Handling Best Practices</vt:lpstr>
      <vt:lpstr>Exception  Handling Best Practices</vt:lpstr>
      <vt:lpstr>Exception  Handling Best Practices</vt:lpstr>
      <vt:lpstr>Exception  Handling Best Practices</vt:lpstr>
      <vt:lpstr>Exception  Handling Best Practices</vt:lpstr>
      <vt:lpstr>Exception  Handling Best Practices</vt:lpstr>
      <vt:lpstr>Exception  Handling Best Practices</vt:lpstr>
      <vt:lpstr>Exception  Handling Best Practices</vt:lpstr>
      <vt:lpstr>Don’t Return Null</vt:lpstr>
      <vt:lpstr>Don’t Pass Null</vt:lpstr>
      <vt:lpstr>Logging Best Practices</vt:lpstr>
      <vt:lpstr>Logging Best Practices</vt:lpstr>
      <vt:lpstr>Logging Best Practices</vt:lpstr>
      <vt:lpstr>Logging Best Practices</vt:lpstr>
      <vt:lpstr>Logging Best Practices</vt:lpstr>
      <vt:lpstr>Exercise</vt:lpstr>
      <vt:lpstr>PowerPoint Presentation</vt:lpstr>
      <vt:lpstr>Use Intention Revealing Names</vt:lpstr>
      <vt:lpstr>Use Intention Revealing Names Contd.</vt:lpstr>
      <vt:lpstr>Use Intention Revealing Names Contd.</vt:lpstr>
      <vt:lpstr>Use Intention Revealing Names Contd.</vt:lpstr>
      <vt:lpstr>Use Intention Revealing Names Contd.</vt:lpstr>
      <vt:lpstr>Avoid Disinformation</vt:lpstr>
      <vt:lpstr>Make Meaningful Distinctions</vt:lpstr>
      <vt:lpstr>Use Pronouncable Names</vt:lpstr>
      <vt:lpstr>Use Searchable Names</vt:lpstr>
      <vt:lpstr>Avoid Encodings – Hungarian Notation</vt:lpstr>
      <vt:lpstr>Avoid Encodings – Member Prefixes</vt:lpstr>
      <vt:lpstr>Avoid Encodings – Interfaces and Implementations</vt:lpstr>
      <vt:lpstr>Avoid Mental Mappings</vt:lpstr>
      <vt:lpstr>Class Names</vt:lpstr>
      <vt:lpstr>Method Names</vt:lpstr>
      <vt:lpstr>One word per concept</vt:lpstr>
      <vt:lpstr>Use Solution Domain Names</vt:lpstr>
      <vt:lpstr>Don’t Add Unncessary Context</vt:lpstr>
      <vt:lpstr>2. Functions</vt:lpstr>
      <vt:lpstr>SMALL!!</vt:lpstr>
      <vt:lpstr>Blocks and Indenting</vt:lpstr>
      <vt:lpstr>PowerPoint Presentation</vt:lpstr>
      <vt:lpstr>One Level of Abstraction per Function</vt:lpstr>
      <vt:lpstr>Use Descriptive Names</vt:lpstr>
      <vt:lpstr>Function Arguments/Parameters</vt:lpstr>
      <vt:lpstr>Function Arguments/Parameters</vt:lpstr>
      <vt:lpstr>Have No Side Effects</vt:lpstr>
      <vt:lpstr>Command Query Separation</vt:lpstr>
      <vt:lpstr>3. Comments</vt:lpstr>
      <vt:lpstr>PowerPoint Presentation</vt:lpstr>
      <vt:lpstr>Explain yourself in code</vt:lpstr>
      <vt:lpstr>Informative Comments</vt:lpstr>
      <vt:lpstr>Explanation of Intent</vt:lpstr>
      <vt:lpstr>TODO</vt:lpstr>
      <vt:lpstr>Amplification</vt:lpstr>
      <vt:lpstr>PowerPoint Presentation</vt:lpstr>
      <vt:lpstr>Redundant Comments</vt:lpstr>
      <vt:lpstr>Mandated Comments</vt:lpstr>
      <vt:lpstr>4. Formatting</vt:lpstr>
      <vt:lpstr>Vertical Formatting</vt:lpstr>
      <vt:lpstr>Vertical Openness between concepts</vt:lpstr>
      <vt:lpstr>Vertical Distance</vt:lpstr>
      <vt:lpstr>Horizontal Formatting</vt:lpstr>
      <vt:lpstr>Indentation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Abdullah Hamza</dc:creator>
  <cp:lastModifiedBy>Abdullah Hamza</cp:lastModifiedBy>
  <cp:revision>3</cp:revision>
  <dcterms:modified xsi:type="dcterms:W3CDTF">2022-03-14T04:55:01Z</dcterms:modified>
</cp:coreProperties>
</file>