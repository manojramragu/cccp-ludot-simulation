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50"/>
  </p:notesMasterIdLst>
  <p:sldIdLst>
    <p:sldId id="256" r:id="rId2"/>
    <p:sldId id="295" r:id="rId3"/>
    <p:sldId id="298" r:id="rId4"/>
    <p:sldId id="300" r:id="rId5"/>
    <p:sldId id="301" r:id="rId6"/>
    <p:sldId id="302" r:id="rId7"/>
    <p:sldId id="303" r:id="rId8"/>
    <p:sldId id="304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2" r:id="rId34"/>
    <p:sldId id="331" r:id="rId35"/>
    <p:sldId id="333" r:id="rId36"/>
    <p:sldId id="334" r:id="rId37"/>
    <p:sldId id="335" r:id="rId38"/>
    <p:sldId id="336" r:id="rId39"/>
    <p:sldId id="337" r:id="rId40"/>
    <p:sldId id="338" r:id="rId41"/>
    <p:sldId id="339" r:id="rId42"/>
    <p:sldId id="340" r:id="rId43"/>
    <p:sldId id="341" r:id="rId44"/>
    <p:sldId id="342" r:id="rId45"/>
    <p:sldId id="343" r:id="rId46"/>
    <p:sldId id="344" r:id="rId47"/>
    <p:sldId id="345" r:id="rId48"/>
    <p:sldId id="294" r:id="rId49"/>
  </p:sldIdLst>
  <p:sldSz cx="9144000" cy="5143500" type="screen16x9"/>
  <p:notesSz cx="6858000" cy="9144000"/>
  <p:embeddedFontLst>
    <p:embeddedFont>
      <p:font typeface="Lato" panose="020F0502020204030203" pitchFamily="34" charset="0"/>
      <p:regular r:id="rId51"/>
      <p:bold r:id="rId52"/>
      <p:italic r:id="rId53"/>
      <p:boldItalic r:id="rId54"/>
    </p:embeddedFont>
    <p:embeddedFont>
      <p:font typeface="Montserrat" panose="00000500000000000000" pitchFamily="2" charset="0"/>
      <p:regular r:id="rId55"/>
      <p:bold r:id="rId56"/>
      <p:italic r:id="rId57"/>
      <p:boldItalic r:id="rId58"/>
    </p:embeddedFont>
    <p:embeddedFont>
      <p:font typeface="Raleway" panose="020B0503030101060003" pitchFamily="34" charset="0"/>
      <p:regular r:id="rId59"/>
      <p:bold r:id="rId60"/>
      <p:italic r:id="rId61"/>
      <p:boldItalic r:id="rId62"/>
    </p:embeddedFont>
    <p:embeddedFont>
      <p:font typeface="Segoe UI Emoji" panose="020B0502040204020203" pitchFamily="34" charset="0"/>
      <p:regular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11B042-42A6-4E84-9ED9-0CB569C5A5D4}" v="73" dt="2022-03-06T20:22:55.564"/>
  </p1510:revLst>
</p1510:revInfo>
</file>

<file path=ppt/tableStyles.xml><?xml version="1.0" encoding="utf-8"?>
<a:tblStyleLst xmlns:a="http://schemas.openxmlformats.org/drawingml/2006/main" def="{C98665B7-6574-423E-A4B5-A6C020D860FF}">
  <a:tblStyle styleId="{C98665B7-6574-423E-A4B5-A6C020D860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1A8698C-63BC-4B6A-AE92-7E62379B444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63" Type="http://schemas.openxmlformats.org/officeDocument/2006/relationships/font" Target="fonts/font13.fntdata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9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6785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0134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1296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8386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4357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0073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2523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7474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0603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8817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0844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7002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256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69017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20937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11087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17140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93161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82521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0047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6549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97952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09761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93145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4118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18795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72323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77673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9939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40117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88746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17513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48743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23471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39367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6112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31057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24325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60605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4349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27984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40484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17346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95506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97507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44013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613746237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6137462377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45225" y="2762725"/>
            <a:ext cx="67365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938246" y="2533163"/>
            <a:ext cx="7218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659861" y="2533163"/>
            <a:ext cx="7218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1" y="2533163"/>
            <a:ext cx="7218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1425" y="2533163"/>
            <a:ext cx="52167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399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047704" y="3992850"/>
            <a:ext cx="3047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096271" y="3992850"/>
            <a:ext cx="3047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" y="3992850"/>
            <a:ext cx="3047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SzPts val="2400"/>
              <a:buChar char="▷"/>
              <a:defRPr i="1"/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i="1"/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i="1"/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9pPr>
          </a:lstStyle>
          <a:p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3593400" y="11814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>
                <a:solidFill>
                  <a:schemeClr val="accent6"/>
                </a:solidFill>
              </a:rPr>
              <a:t>“</a:t>
            </a:r>
            <a:endParaRPr sz="9600" b="1">
              <a:solidFill>
                <a:schemeClr val="accent6"/>
              </a:solidFill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723283" y="1599675"/>
            <a:ext cx="17103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7434177" y="1599675"/>
            <a:ext cx="17103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0" y="1599675"/>
            <a:ext cx="17103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710425" y="1599675"/>
            <a:ext cx="17103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▷"/>
              <a:defRPr>
                <a:solidFill>
                  <a:schemeClr val="dk1"/>
                </a:solidFill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893625" y="1200150"/>
            <a:ext cx="3136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219456" y="1200150"/>
            <a:ext cx="3136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lor background">
  <p:cSld name="BLANK_1">
    <p:bg>
      <p:bgPr>
        <a:solidFill>
          <a:schemeClr val="accen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1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▷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6" r:id="rId6"/>
    <p:sldLayoutId id="2147483657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carnival.com/?utm_source=template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>
            <a:spLocks noGrp="1"/>
          </p:cNvSpPr>
          <p:nvPr>
            <p:ph type="ctrTitle"/>
          </p:nvPr>
        </p:nvSpPr>
        <p:spPr>
          <a:xfrm>
            <a:off x="645225" y="2762725"/>
            <a:ext cx="67365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Clean Coding Principles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1.</a:t>
            </a:r>
            <a:endParaRPr sz="7200" dirty="0"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Meaningful Names</a:t>
            </a:r>
            <a:endParaRPr dirty="0"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Ref: Clean Code – Robert C. Martin</a:t>
            </a:r>
            <a:br>
              <a:rPr lang="en" sz="2000" dirty="0"/>
            </a:br>
            <a:r>
              <a:rPr lang="en" sz="2000" dirty="0"/>
              <a:t>Chapter 2</a:t>
            </a:r>
            <a:endParaRPr sz="2000" dirty="0"/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1245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Intention Revealing Names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893700" y="2116713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411400" y="2040206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5B1EC2-B96E-450C-BD88-39420D4FF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00" y="2867492"/>
            <a:ext cx="3293486" cy="4185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47E2A0-5092-478D-BCFC-492C84B56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400" y="2861419"/>
            <a:ext cx="3109229" cy="1074513"/>
          </a:xfrm>
          <a:prstGeom prst="rect">
            <a:avLst/>
          </a:prstGeom>
        </p:spPr>
      </p:pic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Choosing good names takes time but saves more than it takes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Name should answer all the big questions: Why, What, How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If a name requires a comment, then the intent is not revealed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414481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Intention Revealing Names Contd.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What is the purpose of this code?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E865FE-8552-4846-A65B-9DE908319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294" y="1510736"/>
            <a:ext cx="5204911" cy="16536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B0DE9C-071E-462D-B2AF-B81FF368F1BF}"/>
              </a:ext>
            </a:extLst>
          </p:cNvPr>
          <p:cNvSpPr txBox="1"/>
          <p:nvPr/>
        </p:nvSpPr>
        <p:spPr>
          <a:xfrm>
            <a:off x="3451883" y="3426672"/>
            <a:ext cx="9181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72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239695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Intention Revealing Names Contd.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583" y="767755"/>
            <a:ext cx="6137100" cy="491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400" dirty="0"/>
              <a:t>What is the purpose of this code?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E865FE-8552-4846-A65B-9DE908319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772" y="1272109"/>
            <a:ext cx="5204911" cy="16536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B0DE9C-071E-462D-B2AF-B81FF368F1BF}"/>
              </a:ext>
            </a:extLst>
          </p:cNvPr>
          <p:cNvSpPr txBox="1"/>
          <p:nvPr/>
        </p:nvSpPr>
        <p:spPr>
          <a:xfrm>
            <a:off x="7310205" y="1352366"/>
            <a:ext cx="14546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4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lang="en-US" sz="4400" dirty="0"/>
          </a:p>
        </p:txBody>
      </p:sp>
      <p:sp>
        <p:nvSpPr>
          <p:cNvPr id="7" name="Google Shape;125;p17">
            <a:extLst>
              <a:ext uri="{FF2B5EF4-FFF2-40B4-BE49-F238E27FC236}">
                <a16:creationId xmlns:a16="http://schemas.microsoft.com/office/drawing/2014/main" id="{C4CFAA55-37BB-4387-BA0C-0D06D1D8C162}"/>
              </a:ext>
            </a:extLst>
          </p:cNvPr>
          <p:cNvSpPr txBox="1">
            <a:spLocks/>
          </p:cNvSpPr>
          <p:nvPr/>
        </p:nvSpPr>
        <p:spPr>
          <a:xfrm>
            <a:off x="1032927" y="3253260"/>
            <a:ext cx="6462600" cy="1348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342900">
              <a:buSzPts val="1800"/>
            </a:pPr>
            <a:r>
              <a:rPr lang="en-US" sz="1400" dirty="0"/>
              <a:t>What kind of things are in the list?</a:t>
            </a:r>
          </a:p>
          <a:p>
            <a:pPr indent="-342900">
              <a:buSzPts val="1800"/>
            </a:pPr>
            <a:r>
              <a:rPr lang="en-US" sz="1400" dirty="0"/>
              <a:t>What is the significance of the first element in the list?</a:t>
            </a:r>
          </a:p>
          <a:p>
            <a:pPr indent="-342900">
              <a:buSzPts val="1800"/>
            </a:pPr>
            <a:r>
              <a:rPr lang="en-US" sz="1400" dirty="0"/>
              <a:t>What is the significance of the value 4?</a:t>
            </a:r>
          </a:p>
          <a:p>
            <a:pPr indent="-342900">
              <a:buSzPts val="1800"/>
            </a:pPr>
            <a:r>
              <a:rPr lang="en-US" sz="1400" dirty="0"/>
              <a:t>How  do we use the list being returned?</a:t>
            </a:r>
          </a:p>
        </p:txBody>
      </p:sp>
    </p:spTree>
    <p:extLst>
      <p:ext uri="{BB962C8B-B14F-4D97-AF65-F5344CB8AC3E}">
        <p14:creationId xmlns:p14="http://schemas.microsoft.com/office/powerpoint/2010/main" val="2249859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Intention Revealing Names Contd.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583" y="767755"/>
            <a:ext cx="6137100" cy="491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400" dirty="0"/>
              <a:t>The code is for a minesweeper game, here’s an improved version </a:t>
            </a:r>
            <a:endParaRPr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B0DE9C-071E-462D-B2AF-B81FF368F1BF}"/>
              </a:ext>
            </a:extLst>
          </p:cNvPr>
          <p:cNvSpPr txBox="1"/>
          <p:nvPr/>
        </p:nvSpPr>
        <p:spPr>
          <a:xfrm>
            <a:off x="7310205" y="1352366"/>
            <a:ext cx="14546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0" i="0" dirty="0">
                <a:solidFill>
                  <a:srgbClr val="333333"/>
                </a:solidFill>
                <a:effectLst/>
                <a:latin typeface="Segoe UI Emoji" panose="020B0502040204020203" pitchFamily="34" charset="0"/>
              </a:rPr>
              <a:t>😏</a:t>
            </a:r>
            <a:endParaRPr lang="en-US" sz="4400" dirty="0"/>
          </a:p>
        </p:txBody>
      </p:sp>
      <p:sp>
        <p:nvSpPr>
          <p:cNvPr id="7" name="Google Shape;125;p17">
            <a:extLst>
              <a:ext uri="{FF2B5EF4-FFF2-40B4-BE49-F238E27FC236}">
                <a16:creationId xmlns:a16="http://schemas.microsoft.com/office/drawing/2014/main" id="{C4CFAA55-37BB-4387-BA0C-0D06D1D8C162}"/>
              </a:ext>
            </a:extLst>
          </p:cNvPr>
          <p:cNvSpPr txBox="1">
            <a:spLocks/>
          </p:cNvSpPr>
          <p:nvPr/>
        </p:nvSpPr>
        <p:spPr>
          <a:xfrm>
            <a:off x="1032927" y="3253260"/>
            <a:ext cx="6462600" cy="1348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342900">
              <a:buSzPts val="1800"/>
            </a:pPr>
            <a:r>
              <a:rPr lang="en-US" sz="1400" dirty="0"/>
              <a:t>What kind of things are in the list? </a:t>
            </a:r>
            <a:r>
              <a:rPr lang="en-US" sz="1400" dirty="0">
                <a:solidFill>
                  <a:schemeClr val="accent4"/>
                </a:solidFill>
              </a:rPr>
              <a:t>It represents the game board</a:t>
            </a:r>
          </a:p>
          <a:p>
            <a:pPr indent="-342900">
              <a:buSzPts val="1800"/>
            </a:pPr>
            <a:r>
              <a:rPr lang="en-US" sz="1400" dirty="0"/>
              <a:t>What is the significance of the first element in the list? </a:t>
            </a:r>
            <a:r>
              <a:rPr lang="en-US" sz="1400" dirty="0">
                <a:solidFill>
                  <a:schemeClr val="accent4"/>
                </a:solidFill>
              </a:rPr>
              <a:t>It is the location of a status value</a:t>
            </a:r>
            <a:endParaRPr lang="en-US" sz="1400" dirty="0"/>
          </a:p>
          <a:p>
            <a:pPr indent="-342900">
              <a:buSzPts val="1800"/>
            </a:pPr>
            <a:r>
              <a:rPr lang="en-US" sz="1400" dirty="0"/>
              <a:t>What is the significance of the value 4? </a:t>
            </a:r>
            <a:r>
              <a:rPr lang="en-US" sz="1400" dirty="0">
                <a:solidFill>
                  <a:schemeClr val="accent4"/>
                </a:solidFill>
              </a:rPr>
              <a:t>Status == Flagged</a:t>
            </a:r>
            <a:endParaRPr lang="en-US" sz="1400" dirty="0"/>
          </a:p>
          <a:p>
            <a:pPr indent="-342900">
              <a:buSzPts val="1800"/>
            </a:pPr>
            <a:r>
              <a:rPr lang="en-US" sz="1400" dirty="0"/>
              <a:t>How  do we use the list being returned? </a:t>
            </a:r>
            <a:r>
              <a:rPr lang="en-US" sz="1400" dirty="0">
                <a:solidFill>
                  <a:schemeClr val="accent4"/>
                </a:solidFill>
              </a:rPr>
              <a:t>It is a list of flagged cells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EEEFE0-CA2B-409D-918D-E559C5CC6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858" y="1314017"/>
            <a:ext cx="5730737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453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Intention Revealing Names Contd.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583" y="767755"/>
            <a:ext cx="6137100" cy="491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400" dirty="0"/>
              <a:t>Improving it further</a:t>
            </a:r>
            <a:endParaRPr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B0DE9C-071E-462D-B2AF-B81FF368F1BF}"/>
              </a:ext>
            </a:extLst>
          </p:cNvPr>
          <p:cNvSpPr txBox="1"/>
          <p:nvPr/>
        </p:nvSpPr>
        <p:spPr>
          <a:xfrm>
            <a:off x="7310205" y="1352366"/>
            <a:ext cx="14546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54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lang="en-US" sz="4400" dirty="0"/>
          </a:p>
        </p:txBody>
      </p:sp>
      <p:sp>
        <p:nvSpPr>
          <p:cNvPr id="7" name="Google Shape;125;p17">
            <a:extLst>
              <a:ext uri="{FF2B5EF4-FFF2-40B4-BE49-F238E27FC236}">
                <a16:creationId xmlns:a16="http://schemas.microsoft.com/office/drawing/2014/main" id="{C4CFAA55-37BB-4387-BA0C-0D06D1D8C162}"/>
              </a:ext>
            </a:extLst>
          </p:cNvPr>
          <p:cNvSpPr txBox="1">
            <a:spLocks/>
          </p:cNvSpPr>
          <p:nvPr/>
        </p:nvSpPr>
        <p:spPr>
          <a:xfrm>
            <a:off x="1032927" y="3253260"/>
            <a:ext cx="6462600" cy="1348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342900">
              <a:buSzPts val="1800"/>
            </a:pPr>
            <a:r>
              <a:rPr lang="en-US" sz="1400" dirty="0"/>
              <a:t>Class introduced for Cell</a:t>
            </a:r>
          </a:p>
          <a:p>
            <a:pPr indent="-342900">
              <a:buSzPts val="1800"/>
            </a:pPr>
            <a:r>
              <a:rPr lang="en-US" sz="1400" dirty="0" err="1"/>
              <a:t>isFlagged</a:t>
            </a:r>
            <a:r>
              <a:rPr lang="en-US" sz="1400" dirty="0"/>
              <a:t> function used to hide magic numbers</a:t>
            </a:r>
          </a:p>
          <a:p>
            <a:pPr indent="-342900">
              <a:buSzPts val="1800"/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0AA14-027E-4999-BA36-19DA831B2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062" y="1527120"/>
            <a:ext cx="5265876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13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Avoid Disinformation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692737" y="2102580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202994" y="2121807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Don’t make others lead to false conclusions about your code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443E19-7CA4-43D1-8487-53C9B5099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37" y="2940423"/>
            <a:ext cx="4355049" cy="6371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9300E6-8479-4EF1-9CC1-CAB9D03F8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94" y="2940423"/>
            <a:ext cx="3551931" cy="55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45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Make Meaningful Distinctions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692737" y="2102580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202994" y="2121807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Ex: number series naming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Noninformative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Provide no clue to the reader</a:t>
            </a:r>
            <a:endParaRPr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514A9C-3CFF-47D9-A6ED-53349DB92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37" y="2773968"/>
            <a:ext cx="4092031" cy="1179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E3AB4C-8B93-44AF-94E4-4A82D19EF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770" y="2796442"/>
            <a:ext cx="3951852" cy="87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3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Pronouncable Names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364707" y="2127451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202994" y="2121807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“</a:t>
            </a:r>
            <a:r>
              <a:rPr lang="en-US" sz="1400" dirty="0" err="1"/>
              <a:t>genymdhms</a:t>
            </a:r>
            <a:r>
              <a:rPr lang="en-US" sz="1400" dirty="0"/>
              <a:t>” – can you pronounce this?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200" dirty="0"/>
              <a:t> generation date, year, month, day, hour, minute, and second)</a:t>
            </a:r>
            <a:r>
              <a:rPr lang="en-US" sz="14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969CBA-0CD1-4BB8-98CD-DCE36FA72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78" y="2941633"/>
            <a:ext cx="4183743" cy="13412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8B8C91-DEC3-482E-9085-C0F0B672D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94" y="2879002"/>
            <a:ext cx="3712782" cy="112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47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Searchable Names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364707" y="259157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125000" y="2545135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Single letter names should only be used as local variables inside very small methods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Length of the name should correspond to the size of the scope</a:t>
            </a:r>
          </a:p>
          <a:p>
            <a:pPr indent="-342900">
              <a:buSzPts val="1800"/>
            </a:pPr>
            <a:r>
              <a:rPr lang="en-US" sz="1400" dirty="0"/>
              <a:t>If a variable might be used in multiple places in a body of code, you must give it a searchable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446A21-7BB2-46C2-8326-7A1002C16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07" y="3343130"/>
            <a:ext cx="2911092" cy="8382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81EFA7-66E6-424F-B714-7E0A9F2EC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478" y="3144096"/>
            <a:ext cx="5077522" cy="145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48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Avoid Encodings – Hungarian Notation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364707" y="259157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128336" y="254963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This  was used when there were limitations in type checking and strong typing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E2730F-5B79-41FD-8749-E557E6BB3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23" y="3426091"/>
            <a:ext cx="3543607" cy="6553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83CC66-5271-451E-B1AF-FDF68DFD3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824" y="3281298"/>
            <a:ext cx="2644369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9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Avoid Encodings – Member Prefixes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364707" y="259157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128336" y="254963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You don’t need to prefix member or instance variables with “m_”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70131D-5B2B-4A3A-8BF1-4546BC50B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48" y="3352491"/>
            <a:ext cx="3876326" cy="10005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BF9A18-58DE-44C6-B7B9-8C44A334D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441" y="3352491"/>
            <a:ext cx="3756373" cy="113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22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Avoid Encodings – Interfaces and Implementations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439365" y="192723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155422" y="199732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71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Users don’t need to know whether they are using an interface or abstract class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2FADD4-874E-4C89-AFED-520E577A0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37" y="2688151"/>
            <a:ext cx="3551228" cy="777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A33CEF-67C0-4CBF-8963-37457335B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65" y="3731656"/>
            <a:ext cx="3835269" cy="6307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AB0158-FDBC-4431-BA20-6B803A860D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773" y="2688151"/>
            <a:ext cx="3200677" cy="8611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8D2BFE-756F-43C5-8A00-8CC4715A6C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4119" y="3681956"/>
            <a:ext cx="3939881" cy="109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36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Avoid Mental Mappings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439365" y="192723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155422" y="199732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71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Readers shouldn’t have to mentally translate your names into other names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035B58-BB1B-4F06-A0E5-631013889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760" y="2664552"/>
            <a:ext cx="3990351" cy="21221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FC56B1-6B27-45C4-B380-357A01D3E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65" y="2658102"/>
            <a:ext cx="3255557" cy="229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19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Class Names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439365" y="192723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155422" y="199732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71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Classes and objects should have Noun or Noun phrase Names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SHOULD NOT BE A VERB</a:t>
            </a:r>
          </a:p>
        </p:txBody>
      </p:sp>
      <p:sp>
        <p:nvSpPr>
          <p:cNvPr id="9" name="Google Shape;153;p20">
            <a:extLst>
              <a:ext uri="{FF2B5EF4-FFF2-40B4-BE49-F238E27FC236}">
                <a16:creationId xmlns:a16="http://schemas.microsoft.com/office/drawing/2014/main" id="{51847B4A-805D-4200-8A4C-8AEFF1AAC85A}"/>
              </a:ext>
            </a:extLst>
          </p:cNvPr>
          <p:cNvSpPr txBox="1">
            <a:spLocks/>
          </p:cNvSpPr>
          <p:nvPr/>
        </p:nvSpPr>
        <p:spPr>
          <a:xfrm>
            <a:off x="522889" y="2601314"/>
            <a:ext cx="2371200" cy="133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en-US" sz="1200" b="1" dirty="0"/>
              <a:t>Manager</a:t>
            </a:r>
          </a:p>
          <a:p>
            <a:pPr marL="0" indent="0">
              <a:buFont typeface="Lato"/>
              <a:buNone/>
            </a:pPr>
            <a:r>
              <a:rPr lang="en-US" sz="1200" b="1" dirty="0"/>
              <a:t>Processor</a:t>
            </a:r>
          </a:p>
          <a:p>
            <a:pPr marL="0" indent="0">
              <a:buFont typeface="Lato"/>
              <a:buNone/>
            </a:pPr>
            <a:r>
              <a:rPr lang="en-US" sz="1200" b="1" dirty="0"/>
              <a:t>Data</a:t>
            </a:r>
          </a:p>
          <a:p>
            <a:pPr marL="0" indent="0">
              <a:buFont typeface="Lato"/>
              <a:buNone/>
            </a:pPr>
            <a:r>
              <a:rPr lang="en-US" sz="1200" b="1" dirty="0"/>
              <a:t>Info</a:t>
            </a:r>
            <a:endParaRPr lang="en-US" sz="1200" dirty="0"/>
          </a:p>
        </p:txBody>
      </p:sp>
      <p:sp>
        <p:nvSpPr>
          <p:cNvPr id="10" name="Google Shape;153;p20">
            <a:extLst>
              <a:ext uri="{FF2B5EF4-FFF2-40B4-BE49-F238E27FC236}">
                <a16:creationId xmlns:a16="http://schemas.microsoft.com/office/drawing/2014/main" id="{B03E22AB-9243-4AF6-8B4F-C3E2FE1A4C24}"/>
              </a:ext>
            </a:extLst>
          </p:cNvPr>
          <p:cNvSpPr txBox="1">
            <a:spLocks/>
          </p:cNvSpPr>
          <p:nvPr/>
        </p:nvSpPr>
        <p:spPr>
          <a:xfrm>
            <a:off x="5155422" y="2601314"/>
            <a:ext cx="2371200" cy="133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en-US" sz="1200" b="1" dirty="0"/>
              <a:t>Customer</a:t>
            </a:r>
          </a:p>
          <a:p>
            <a:pPr marL="0" indent="0">
              <a:buFont typeface="Lato"/>
              <a:buNone/>
            </a:pPr>
            <a:r>
              <a:rPr lang="en-US" sz="1200" b="1" dirty="0"/>
              <a:t>Account</a:t>
            </a:r>
          </a:p>
          <a:p>
            <a:pPr marL="0" indent="0">
              <a:buFont typeface="Lato"/>
              <a:buNone/>
            </a:pPr>
            <a:r>
              <a:rPr lang="en-US" sz="1200" b="1" dirty="0"/>
              <a:t>Address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AddressParser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17927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Method Names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439365" y="192723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155422" y="199732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71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Methods should have Verb or Verb phrase Names</a:t>
            </a:r>
          </a:p>
        </p:txBody>
      </p:sp>
      <p:sp>
        <p:nvSpPr>
          <p:cNvPr id="9" name="Google Shape;153;p20">
            <a:extLst>
              <a:ext uri="{FF2B5EF4-FFF2-40B4-BE49-F238E27FC236}">
                <a16:creationId xmlns:a16="http://schemas.microsoft.com/office/drawing/2014/main" id="{51847B4A-805D-4200-8A4C-8AEFF1AAC85A}"/>
              </a:ext>
            </a:extLst>
          </p:cNvPr>
          <p:cNvSpPr txBox="1">
            <a:spLocks/>
          </p:cNvSpPr>
          <p:nvPr/>
        </p:nvSpPr>
        <p:spPr>
          <a:xfrm>
            <a:off x="522889" y="2601314"/>
            <a:ext cx="2371200" cy="133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en-US" sz="1200" b="1" dirty="0"/>
              <a:t>customer.name(“John”);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report.data</a:t>
            </a:r>
            <a:r>
              <a:rPr lang="en-US" sz="1200" b="1" dirty="0"/>
              <a:t>();</a:t>
            </a:r>
            <a:endParaRPr lang="en-US" sz="1200" dirty="0"/>
          </a:p>
        </p:txBody>
      </p:sp>
      <p:sp>
        <p:nvSpPr>
          <p:cNvPr id="10" name="Google Shape;153;p20">
            <a:extLst>
              <a:ext uri="{FF2B5EF4-FFF2-40B4-BE49-F238E27FC236}">
                <a16:creationId xmlns:a16="http://schemas.microsoft.com/office/drawing/2014/main" id="{B03E22AB-9243-4AF6-8B4F-C3E2FE1A4C24}"/>
              </a:ext>
            </a:extLst>
          </p:cNvPr>
          <p:cNvSpPr txBox="1">
            <a:spLocks/>
          </p:cNvSpPr>
          <p:nvPr/>
        </p:nvSpPr>
        <p:spPr>
          <a:xfrm>
            <a:off x="5155422" y="2601314"/>
            <a:ext cx="2371200" cy="133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en-US" sz="1200" b="1" dirty="0" err="1"/>
              <a:t>supplier.postPayment</a:t>
            </a:r>
            <a:r>
              <a:rPr lang="en-US" sz="1200" b="1" dirty="0"/>
              <a:t>(address);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report.save</a:t>
            </a:r>
            <a:r>
              <a:rPr lang="en-US" sz="1200" b="1" dirty="0"/>
              <a:t>();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customer.getName</a:t>
            </a:r>
            <a:r>
              <a:rPr lang="en-US" sz="1200" b="1" dirty="0"/>
              <a:t>();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customer.setName</a:t>
            </a:r>
            <a:r>
              <a:rPr lang="en-US" sz="1200" b="1" dirty="0"/>
              <a:t>(“John”);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83390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One word per concept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439365" y="192723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155422" y="199732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71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 Ex: it’s confusing to have fetch, retrieve, and get as equivalent methods of different classes</a:t>
            </a:r>
          </a:p>
        </p:txBody>
      </p:sp>
      <p:sp>
        <p:nvSpPr>
          <p:cNvPr id="9" name="Google Shape;153;p20">
            <a:extLst>
              <a:ext uri="{FF2B5EF4-FFF2-40B4-BE49-F238E27FC236}">
                <a16:creationId xmlns:a16="http://schemas.microsoft.com/office/drawing/2014/main" id="{51847B4A-805D-4200-8A4C-8AEFF1AAC85A}"/>
              </a:ext>
            </a:extLst>
          </p:cNvPr>
          <p:cNvSpPr txBox="1">
            <a:spLocks/>
          </p:cNvSpPr>
          <p:nvPr/>
        </p:nvSpPr>
        <p:spPr>
          <a:xfrm>
            <a:off x="522888" y="2601314"/>
            <a:ext cx="2926556" cy="133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en-US" sz="1200" b="1" dirty="0" err="1"/>
              <a:t>monthlyReport.getCustomers</a:t>
            </a:r>
            <a:r>
              <a:rPr lang="en-US" sz="1200" b="1" dirty="0"/>
              <a:t>();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monthlyReport.fetchLoyalCustomers</a:t>
            </a:r>
            <a:r>
              <a:rPr lang="en-US" sz="1200" b="1" dirty="0"/>
              <a:t>();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monthlyReport.retreiveSuppliers</a:t>
            </a:r>
            <a:r>
              <a:rPr lang="en-US" sz="1200" b="1" dirty="0"/>
              <a:t>();</a:t>
            </a:r>
          </a:p>
          <a:p>
            <a:pPr marL="0" indent="0">
              <a:buFont typeface="Lato"/>
              <a:buNone/>
            </a:pPr>
            <a:endParaRPr lang="en-US" sz="1200" dirty="0"/>
          </a:p>
        </p:txBody>
      </p:sp>
      <p:sp>
        <p:nvSpPr>
          <p:cNvPr id="10" name="Google Shape;153;p20">
            <a:extLst>
              <a:ext uri="{FF2B5EF4-FFF2-40B4-BE49-F238E27FC236}">
                <a16:creationId xmlns:a16="http://schemas.microsoft.com/office/drawing/2014/main" id="{B03E22AB-9243-4AF6-8B4F-C3E2FE1A4C24}"/>
              </a:ext>
            </a:extLst>
          </p:cNvPr>
          <p:cNvSpPr txBox="1">
            <a:spLocks/>
          </p:cNvSpPr>
          <p:nvPr/>
        </p:nvSpPr>
        <p:spPr>
          <a:xfrm>
            <a:off x="5155421" y="2601314"/>
            <a:ext cx="3118783" cy="133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en-US" sz="1200" b="1" dirty="0" err="1"/>
              <a:t>monthlyReport.getCustomers</a:t>
            </a:r>
            <a:r>
              <a:rPr lang="en-US" sz="1200" b="1" dirty="0"/>
              <a:t>();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monthlyReport.getLoyalCustomers</a:t>
            </a:r>
            <a:r>
              <a:rPr lang="en-US" sz="1200" b="1" dirty="0"/>
              <a:t>();</a:t>
            </a:r>
          </a:p>
          <a:p>
            <a:pPr marL="0" indent="0">
              <a:buFont typeface="Lato"/>
              <a:buNone/>
            </a:pPr>
            <a:r>
              <a:rPr lang="en-US" sz="1200" b="1" dirty="0" err="1"/>
              <a:t>monthlyReport.getSuppliers</a:t>
            </a:r>
            <a:r>
              <a:rPr lang="en-US" sz="1200" b="1" dirty="0"/>
              <a:t>();</a:t>
            </a:r>
          </a:p>
          <a:p>
            <a:pPr marL="0" indent="0">
              <a:buFont typeface="Lato"/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12495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Solution Domain Names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71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Readers are also programmers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Use Computer Science terms in code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 err="1"/>
              <a:t>BubbleSort</a:t>
            </a:r>
            <a:r>
              <a:rPr lang="en-US" sz="1400" dirty="0"/>
              <a:t>, </a:t>
            </a:r>
            <a:r>
              <a:rPr lang="en-US" sz="1400" dirty="0" err="1"/>
              <a:t>AccountVisitor</a:t>
            </a:r>
            <a:r>
              <a:rPr lang="en-US" sz="1400" dirty="0"/>
              <a:t>, </a:t>
            </a:r>
            <a:r>
              <a:rPr lang="en-US" sz="1400" dirty="0" err="1"/>
              <a:t>JobQueue</a:t>
            </a:r>
            <a:endParaRPr lang="en-US" sz="1400" dirty="0"/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endParaRPr lang="en-US" sz="1400" dirty="0"/>
          </a:p>
        </p:txBody>
      </p:sp>
      <p:sp>
        <p:nvSpPr>
          <p:cNvPr id="11" name="Google Shape;93;p13">
            <a:extLst>
              <a:ext uri="{FF2B5EF4-FFF2-40B4-BE49-F238E27FC236}">
                <a16:creationId xmlns:a16="http://schemas.microsoft.com/office/drawing/2014/main" id="{EDA12E6F-B551-41F7-83E7-4CFACAA66BA2}"/>
              </a:ext>
            </a:extLst>
          </p:cNvPr>
          <p:cNvSpPr txBox="1">
            <a:spLocks/>
          </p:cNvSpPr>
          <p:nvPr/>
        </p:nvSpPr>
        <p:spPr>
          <a:xfrm>
            <a:off x="893700" y="2571750"/>
            <a:ext cx="7628100" cy="422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 b="0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000" dirty="0"/>
              <a:t>Use Problem Domain Names</a:t>
            </a:r>
          </a:p>
        </p:txBody>
      </p:sp>
      <p:sp>
        <p:nvSpPr>
          <p:cNvPr id="12" name="Google Shape;125;p17">
            <a:extLst>
              <a:ext uri="{FF2B5EF4-FFF2-40B4-BE49-F238E27FC236}">
                <a16:creationId xmlns:a16="http://schemas.microsoft.com/office/drawing/2014/main" id="{DD33A740-D83E-4182-8E34-97EDB42FA899}"/>
              </a:ext>
            </a:extLst>
          </p:cNvPr>
          <p:cNvSpPr txBox="1">
            <a:spLocks/>
          </p:cNvSpPr>
          <p:nvPr/>
        </p:nvSpPr>
        <p:spPr>
          <a:xfrm>
            <a:off x="823075" y="2971720"/>
            <a:ext cx="6462600" cy="819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342900">
              <a:buSzPts val="1800"/>
            </a:pPr>
            <a:r>
              <a:rPr lang="en-US" sz="1400" dirty="0"/>
              <a:t>When you don’t have words from the solution domain, use names from the problem domain	</a:t>
            </a:r>
          </a:p>
        </p:txBody>
      </p:sp>
    </p:spTree>
    <p:extLst>
      <p:ext uri="{BB962C8B-B14F-4D97-AF65-F5344CB8AC3E}">
        <p14:creationId xmlns:p14="http://schemas.microsoft.com/office/powerpoint/2010/main" val="1896309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Don’t Add Unncessary Context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439365" y="1927239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155422" y="199732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71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Add no more context to a name than necessary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Shorter names are </a:t>
            </a:r>
            <a:r>
              <a:rPr lang="en-US" sz="1400" b="1" dirty="0"/>
              <a:t>generally </a:t>
            </a:r>
            <a:r>
              <a:rPr lang="en-US" sz="1400" dirty="0"/>
              <a:t>better than larger ones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9B2646-477B-405E-87CB-E87A16FBA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90" y="2650543"/>
            <a:ext cx="3253057" cy="14828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91B688-76A0-4206-8EFD-71EEAE018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322" y="2732789"/>
            <a:ext cx="2470454" cy="124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32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2.</a:t>
            </a:r>
            <a:endParaRPr sz="7200" dirty="0"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Functions</a:t>
            </a:r>
            <a:endParaRPr dirty="0"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Ref: Clean Code – Robert C. Martin</a:t>
            </a:r>
            <a:br>
              <a:rPr lang="en" sz="2000" dirty="0"/>
            </a:br>
            <a:r>
              <a:rPr lang="en" sz="2000" dirty="0"/>
              <a:t>Chapter 3</a:t>
            </a:r>
            <a:endParaRPr sz="2000" dirty="0"/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2807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893700" y="2675"/>
            <a:ext cx="2483700" cy="234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ctrTitle" idx="4294967295"/>
          </p:nvPr>
        </p:nvSpPr>
        <p:spPr>
          <a:xfrm>
            <a:off x="778225" y="2383444"/>
            <a:ext cx="6623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lt1"/>
                </a:solidFill>
              </a:rPr>
              <a:t>SMALL!!</a:t>
            </a:r>
            <a:endParaRPr sz="7200" dirty="0">
              <a:solidFill>
                <a:schemeClr val="lt1"/>
              </a:solidFill>
            </a:endParaRPr>
          </a:p>
        </p:txBody>
      </p:sp>
      <p:sp>
        <p:nvSpPr>
          <p:cNvPr id="133" name="Google Shape;133;p18"/>
          <p:cNvSpPr txBox="1">
            <a:spLocks noGrp="1"/>
          </p:cNvSpPr>
          <p:nvPr>
            <p:ph type="subTitle" idx="4294967295"/>
          </p:nvPr>
        </p:nvSpPr>
        <p:spPr>
          <a:xfrm>
            <a:off x="778225" y="3697313"/>
            <a:ext cx="6623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</a:rPr>
              <a:t>Rule 1:</a:t>
            </a:r>
            <a:r>
              <a:rPr lang="en" sz="2400" dirty="0">
                <a:solidFill>
                  <a:schemeClr val="lt1"/>
                </a:solidFill>
              </a:rPr>
              <a:t> Functions Should be Small!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</a:rPr>
              <a:t>Rule 2:</a:t>
            </a:r>
            <a:r>
              <a:rPr lang="en" dirty="0">
                <a:solidFill>
                  <a:schemeClr val="lt1"/>
                </a:solidFill>
              </a:rPr>
              <a:t> They should be smaller than that!!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139" name="Google Shape;139;p18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grpSp>
        <p:nvGrpSpPr>
          <p:cNvPr id="11" name="Google Shape;814;p47">
            <a:extLst>
              <a:ext uri="{FF2B5EF4-FFF2-40B4-BE49-F238E27FC236}">
                <a16:creationId xmlns:a16="http://schemas.microsoft.com/office/drawing/2014/main" id="{D0164538-84DC-4DE5-A591-DD24E5381C5C}"/>
              </a:ext>
            </a:extLst>
          </p:cNvPr>
          <p:cNvGrpSpPr/>
          <p:nvPr/>
        </p:nvGrpSpPr>
        <p:grpSpPr>
          <a:xfrm>
            <a:off x="1098775" y="0"/>
            <a:ext cx="2073549" cy="2116248"/>
            <a:chOff x="3955900" y="2984500"/>
            <a:chExt cx="414000" cy="422525"/>
          </a:xfrm>
        </p:grpSpPr>
        <p:sp>
          <p:nvSpPr>
            <p:cNvPr id="12" name="Google Shape;815;p47">
              <a:extLst>
                <a:ext uri="{FF2B5EF4-FFF2-40B4-BE49-F238E27FC236}">
                  <a16:creationId xmlns:a16="http://schemas.microsoft.com/office/drawing/2014/main" id="{9E50BEBC-985A-453A-8155-0A6D11761D52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16;p47">
              <a:extLst>
                <a:ext uri="{FF2B5EF4-FFF2-40B4-BE49-F238E27FC236}">
                  <a16:creationId xmlns:a16="http://schemas.microsoft.com/office/drawing/2014/main" id="{1957CFAB-8B6C-4ED2-8897-D7639E30D986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17;p47">
              <a:extLst>
                <a:ext uri="{FF2B5EF4-FFF2-40B4-BE49-F238E27FC236}">
                  <a16:creationId xmlns:a16="http://schemas.microsoft.com/office/drawing/2014/main" id="{64534D8E-D670-41CA-8BF2-35EC81205A4F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09823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Blocks and Indenting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323069" y="1718241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NOT THE BEST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789200" y="171824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2"/>
            <a:ext cx="6462600" cy="715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Keep code within if, else, while etc. blocks to one line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F8EEA7-8BED-4938-9B68-AC8D60891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79" y="2508655"/>
            <a:ext cx="3866374" cy="19898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AC9199-7D4D-4A2A-BBAF-07BA2B0EC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349" y="2464385"/>
            <a:ext cx="3678701" cy="80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99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FUNCTIONS SHOULD DO ONE THING. THEY SHOULD DO IT WELL.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THEY SHOULD DO IT ONLY.</a:t>
            </a:r>
            <a:endParaRPr dirty="0"/>
          </a:p>
        </p:txBody>
      </p:sp>
      <p:sp>
        <p:nvSpPr>
          <p:cNvPr id="119" name="Google Shape;119;p16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3036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One Level of Abstraction per Function</a:t>
            </a:r>
            <a:endParaRPr dirty="0"/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893700" y="1373588"/>
            <a:ext cx="6462600" cy="11981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600" dirty="0"/>
              <a:t>Concepts at a higher level of abstraction should not be mixed with concepts at a lower level of abstraction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600" dirty="0"/>
              <a:t>Follow the step-down rule</a:t>
            </a:r>
            <a:endParaRPr sz="16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126" name="Google Shape;126;p17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235D32-FF73-49F6-AC11-89B7B0B72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331" y="2686163"/>
            <a:ext cx="6744284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79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Use Descriptive Names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Long descriptive names are better than short confusing names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Spend time to choose a good name.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Try several different names and read the code</a:t>
            </a:r>
          </a:p>
          <a:p>
            <a:pPr indent="-342900">
              <a:buSzPts val="1800"/>
            </a:pPr>
            <a:r>
              <a:rPr lang="en-US" sz="1400" dirty="0"/>
              <a:t>Be consistent with names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Name should answer all the big questions: Why, What, How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If a name requires a comment, then the intent is not revealed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343220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Function Arguments/Parameters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1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Ideally zero parameters (Niladic)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Next, one parameter (Monadic)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Next, two parameters (Dyadic)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Next, three parameters (Triadic) – Try to avoid where possible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More than three (Polyadic) – Must Avoid or </a:t>
            </a:r>
            <a:r>
              <a:rPr lang="en-US" sz="1400" dirty="0" err="1"/>
              <a:t>atleast</a:t>
            </a:r>
            <a:r>
              <a:rPr lang="en-US" sz="1400" dirty="0"/>
              <a:t> have a good justification</a:t>
            </a:r>
          </a:p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090030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Function Arguments/Parameters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1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When more than two or three arguments are required, the arguments can be wrapped into a class of their own.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endParaRPr lang="en-US" sz="1400" dirty="0"/>
          </a:p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C21A07-2FA1-4CD6-AEC6-10CC089EC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598" y="2186906"/>
            <a:ext cx="6050804" cy="769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276B42-9553-4E6D-8A2B-AC2312EC6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598" y="2186906"/>
            <a:ext cx="6050804" cy="7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80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Have No Side Effects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1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Function promises to do one thing, but it also does other hidden things.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endParaRPr lang="en-US" sz="1400" dirty="0"/>
          </a:p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30A030-C99D-416A-B837-F8DF3D959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563" y="1491904"/>
            <a:ext cx="5730737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314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Command Query Separation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1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Functions should either do something or answer something but not both.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endParaRPr lang="en-US" sz="1400" dirty="0"/>
          </a:p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656501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3.</a:t>
            </a:r>
            <a:endParaRPr sz="7200" dirty="0"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Comments</a:t>
            </a:r>
            <a:endParaRPr dirty="0"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Ref: Clean Code – Robert C. Martin</a:t>
            </a:r>
            <a:br>
              <a:rPr lang="en" sz="2000" dirty="0"/>
            </a:br>
            <a:r>
              <a:rPr lang="en" sz="2000" dirty="0"/>
              <a:t>Chapter 4</a:t>
            </a:r>
            <a:endParaRPr sz="2000" dirty="0"/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4984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Comments do not make up for bad code!</a:t>
            </a:r>
            <a:endParaRPr dirty="0"/>
          </a:p>
        </p:txBody>
      </p:sp>
      <p:sp>
        <p:nvSpPr>
          <p:cNvPr id="119" name="Google Shape;119;p16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4586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Explain yourself in code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261798" y="2119488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490000" y="2119488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1179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Which would you rather see?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D2F919-369E-49AA-BDD6-FF4D38203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82" y="3219782"/>
            <a:ext cx="4612703" cy="572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CDDDF7-8F7C-463A-AB12-8A09E8B7B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870" y="3219782"/>
            <a:ext cx="3558848" cy="41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1318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Informative Comments</a:t>
            </a:r>
            <a:endParaRPr sz="20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261798" y="2119488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707750" y="2112461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572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Use the name of the function to convey information where possible</a:t>
            </a:r>
            <a:endParaRPr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A963DB-A2BF-4DB9-9AFF-2ED692C3F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98" y="2833764"/>
            <a:ext cx="3772645" cy="6026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777567-D1D0-4126-B315-CFCCE9086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750" y="2734014"/>
            <a:ext cx="3864876" cy="5568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990A91-12D6-4084-B5E4-169E1A20E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970" y="3419543"/>
            <a:ext cx="3292125" cy="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009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Explanation of Intent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572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Use comments to communicate decisions that were made</a:t>
            </a:r>
            <a:endParaRPr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171C17-510E-4E52-837B-FFE14D8D3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701" y="1514661"/>
            <a:ext cx="5974598" cy="17146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B757B-0C4B-4226-B73E-76EB1B94D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392" y="3398137"/>
            <a:ext cx="6309907" cy="14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422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TODO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572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TODOs can be used to indicate work left for later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Must be regularly cleaned and reduced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E08545-93A1-4111-AF78-4E943D1FF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973" y="1758497"/>
            <a:ext cx="3856054" cy="11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2168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Amplification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572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Use comments to amplify the importance of something</a:t>
            </a:r>
            <a:endParaRPr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75CD04-161F-4F68-935E-B481C31B6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707" y="1514661"/>
            <a:ext cx="5060118" cy="122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947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If you decide to write a comment, then spend the time necessary to make sure it is the best comment you can write</a:t>
            </a:r>
            <a:endParaRPr dirty="0"/>
          </a:p>
        </p:txBody>
      </p:sp>
      <p:sp>
        <p:nvSpPr>
          <p:cNvPr id="119" name="Google Shape;119;p16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70806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Redundant Comments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572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Reading the code itself might be faster than reading redundant/repetitive comments</a:t>
            </a: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D0879-7BB5-4459-AD8C-9A5916654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012" y="1825085"/>
            <a:ext cx="6187976" cy="208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9625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Mandated Comments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572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Not every function/param needs to have a Javadoc</a:t>
            </a:r>
            <a:endParaRPr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F9860E-4AAD-4BF0-8C34-83CF03774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312" y="1648842"/>
            <a:ext cx="5486875" cy="278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8110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4.</a:t>
            </a:r>
            <a:endParaRPr sz="7200" dirty="0"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Formatting</a:t>
            </a:r>
            <a:endParaRPr dirty="0"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Ref: Clean Code – Robert C. Martin</a:t>
            </a:r>
            <a:br>
              <a:rPr lang="en" sz="2000" dirty="0"/>
            </a:br>
            <a:r>
              <a:rPr lang="en" sz="2000" dirty="0"/>
              <a:t>Chapter 4</a:t>
            </a:r>
            <a:endParaRPr sz="2000" dirty="0"/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65854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Vertical Formatting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1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Try to maintain an upper limit of 500 lines per file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Should read like a newspaper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First paragraph gives a synopsis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As you go down, details are revealed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5959172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Vertical Openness between concepts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AED15F-5FBB-41F3-9313-9A74BBB4B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750" y="1740185"/>
            <a:ext cx="4248529" cy="26728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98E75E-ED7B-47B3-8E5E-6B1FD7569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066" y="1854427"/>
            <a:ext cx="4314016" cy="2003895"/>
          </a:xfrm>
          <a:prstGeom prst="rect">
            <a:avLst/>
          </a:prstGeom>
        </p:spPr>
      </p:pic>
      <p:sp>
        <p:nvSpPr>
          <p:cNvPr id="10" name="Google Shape;94;p13">
            <a:extLst>
              <a:ext uri="{FF2B5EF4-FFF2-40B4-BE49-F238E27FC236}">
                <a16:creationId xmlns:a16="http://schemas.microsoft.com/office/drawing/2014/main" id="{CF847189-561C-4117-B58B-889747D4B575}"/>
              </a:ext>
            </a:extLst>
          </p:cNvPr>
          <p:cNvSpPr txBox="1"/>
          <p:nvPr/>
        </p:nvSpPr>
        <p:spPr>
          <a:xfrm>
            <a:off x="241066" y="875254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95;p13">
            <a:extLst>
              <a:ext uri="{FF2B5EF4-FFF2-40B4-BE49-F238E27FC236}">
                <a16:creationId xmlns:a16="http://schemas.microsoft.com/office/drawing/2014/main" id="{9182D5B9-B3D5-48DE-AF10-F472CF4A6A0B}"/>
              </a:ext>
            </a:extLst>
          </p:cNvPr>
          <p:cNvSpPr txBox="1"/>
          <p:nvPr/>
        </p:nvSpPr>
        <p:spPr>
          <a:xfrm>
            <a:off x="4707750" y="898158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724890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Vertical Distance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1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Variables should be declared as close to their usage as possible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Instance variables, should be declared at the top of the class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If one function calls another, they should be vertically close, and the caller should be above the callee, if at all possible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https://plugins.jetbrains.com/plugin/11005-clean-code-method-rearranger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0013237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Horizontal Formatting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1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Prefer short lines</a:t>
            </a:r>
          </a:p>
          <a:p>
            <a:pPr lvl="1" indent="-342900">
              <a:spcBef>
                <a:spcPts val="600"/>
              </a:spcBef>
              <a:buSzPts val="1800"/>
              <a:buChar char="▷"/>
            </a:pPr>
            <a:r>
              <a:rPr lang="en-US" sz="1400" dirty="0"/>
              <a:t>Prefer Max 80 characters per line</a:t>
            </a:r>
          </a:p>
          <a:p>
            <a:pPr indent="-342900">
              <a:buSzPts val="1800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854672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93700" y="356837"/>
            <a:ext cx="7628100" cy="4221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Indentation</a:t>
            </a:r>
            <a:endParaRPr sz="2000"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  <p:sp>
        <p:nvSpPr>
          <p:cNvPr id="8" name="Google Shape;125;p17">
            <a:extLst>
              <a:ext uri="{FF2B5EF4-FFF2-40B4-BE49-F238E27FC236}">
                <a16:creationId xmlns:a16="http://schemas.microsoft.com/office/drawing/2014/main" id="{6A6E0417-84BC-49FF-AD99-EEB405239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700" y="860631"/>
            <a:ext cx="6462600" cy="21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400" dirty="0"/>
              <a:t>Avoid collapsing scopes to one line</a:t>
            </a:r>
          </a:p>
          <a:p>
            <a:pPr indent="-342900">
              <a:buSzPts val="1800"/>
            </a:pPr>
            <a:endParaRPr lang="en-US" sz="1400" dirty="0"/>
          </a:p>
        </p:txBody>
      </p:sp>
      <p:sp>
        <p:nvSpPr>
          <p:cNvPr id="5" name="Google Shape;94;p13">
            <a:extLst>
              <a:ext uri="{FF2B5EF4-FFF2-40B4-BE49-F238E27FC236}">
                <a16:creationId xmlns:a16="http://schemas.microsoft.com/office/drawing/2014/main" id="{9F4C190E-75CA-42B6-9B5E-B91937A00BBD}"/>
              </a:ext>
            </a:extLst>
          </p:cNvPr>
          <p:cNvSpPr txBox="1"/>
          <p:nvPr/>
        </p:nvSpPr>
        <p:spPr>
          <a:xfrm>
            <a:off x="829991" y="1395645"/>
            <a:ext cx="35763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BAD</a:t>
            </a:r>
            <a:r>
              <a:rPr lang="en-US" sz="2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😒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Google Shape;95;p13">
            <a:extLst>
              <a:ext uri="{FF2B5EF4-FFF2-40B4-BE49-F238E27FC236}">
                <a16:creationId xmlns:a16="http://schemas.microsoft.com/office/drawing/2014/main" id="{B24AE647-41F4-4267-935E-06E5A7F1570C}"/>
              </a:ext>
            </a:extLst>
          </p:cNvPr>
          <p:cNvSpPr txBox="1"/>
          <p:nvPr/>
        </p:nvSpPr>
        <p:spPr>
          <a:xfrm>
            <a:off x="5296675" y="1418549"/>
            <a:ext cx="3732600" cy="55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GOOD</a:t>
            </a:r>
            <a:r>
              <a:rPr lang="en" sz="2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8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😸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79E4EC-E32D-4925-80C2-E6491AB4C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4360"/>
            <a:ext cx="5023163" cy="937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AC9DCD-9E2A-417F-8B32-D61D54D63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163" y="2283064"/>
            <a:ext cx="3944760" cy="129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6160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893700" y="2675"/>
            <a:ext cx="1903532" cy="17963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ctrTitle" idx="4294967295"/>
          </p:nvPr>
        </p:nvSpPr>
        <p:spPr>
          <a:xfrm>
            <a:off x="778225" y="1889499"/>
            <a:ext cx="6623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lt1"/>
                </a:solidFill>
              </a:rPr>
              <a:t>Exercise</a:t>
            </a:r>
            <a:endParaRPr sz="7200" dirty="0">
              <a:solidFill>
                <a:schemeClr val="lt1"/>
              </a:solidFill>
            </a:endParaRPr>
          </a:p>
        </p:txBody>
      </p:sp>
      <p:sp>
        <p:nvSpPr>
          <p:cNvPr id="133" name="Google Shape;133;p18"/>
          <p:cNvSpPr txBox="1">
            <a:spLocks noGrp="1"/>
          </p:cNvSpPr>
          <p:nvPr>
            <p:ph type="subTitle" idx="4294967295"/>
          </p:nvPr>
        </p:nvSpPr>
        <p:spPr>
          <a:xfrm>
            <a:off x="778225" y="3049299"/>
            <a:ext cx="6623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/>
            <a:r>
              <a:rPr lang="en-US" sz="1600" dirty="0">
                <a:solidFill>
                  <a:schemeClr val="lt1"/>
                </a:solidFill>
              </a:rPr>
              <a:t>Get an old code base of yours (Java)</a:t>
            </a:r>
          </a:p>
          <a:p>
            <a:pPr marL="342900" indent="-342900"/>
            <a:r>
              <a:rPr lang="en-US" sz="1600" dirty="0">
                <a:solidFill>
                  <a:schemeClr val="lt1"/>
                </a:solidFill>
              </a:rPr>
              <a:t>Find a minimum of 5 clean code principles violations</a:t>
            </a:r>
          </a:p>
          <a:p>
            <a:pPr marL="800100" lvl="1" indent="-342900">
              <a:spcBef>
                <a:spcPts val="600"/>
              </a:spcBef>
            </a:pPr>
            <a:r>
              <a:rPr lang="en-US" sz="1600" dirty="0">
                <a:solidFill>
                  <a:schemeClr val="lt1"/>
                </a:solidFill>
              </a:rPr>
              <a:t>What is the violation?</a:t>
            </a:r>
          </a:p>
          <a:p>
            <a:pPr marL="800100" lvl="1" indent="-342900">
              <a:spcBef>
                <a:spcPts val="600"/>
              </a:spcBef>
            </a:pPr>
            <a:r>
              <a:rPr lang="en-US" sz="1600" dirty="0">
                <a:solidFill>
                  <a:schemeClr val="lt1"/>
                </a:solidFill>
              </a:rPr>
              <a:t>Why is the principle important?</a:t>
            </a:r>
          </a:p>
          <a:p>
            <a:pPr marL="800100" lvl="1" indent="-342900">
              <a:spcBef>
                <a:spcPts val="600"/>
              </a:spcBef>
            </a:pPr>
            <a:r>
              <a:rPr lang="en-US" sz="1600" dirty="0">
                <a:solidFill>
                  <a:schemeClr val="lt1"/>
                </a:solidFill>
              </a:rPr>
              <a:t>What is the suggested fix?</a:t>
            </a:r>
            <a:endParaRPr sz="1600" dirty="0">
              <a:solidFill>
                <a:schemeClr val="lt1"/>
              </a:solidFill>
            </a:endParaRPr>
          </a:p>
        </p:txBody>
      </p:sp>
      <p:grpSp>
        <p:nvGrpSpPr>
          <p:cNvPr id="134" name="Google Shape;134;p18"/>
          <p:cNvGrpSpPr/>
          <p:nvPr/>
        </p:nvGrpSpPr>
        <p:grpSpPr>
          <a:xfrm>
            <a:off x="1276606" y="336278"/>
            <a:ext cx="1140633" cy="1113381"/>
            <a:chOff x="570875" y="4322250"/>
            <a:chExt cx="443300" cy="443325"/>
          </a:xfrm>
        </p:grpSpPr>
        <p:sp>
          <p:nvSpPr>
            <p:cNvPr id="135" name="Google Shape;135;p18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8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96363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5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50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sz="18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05" name="Google Shape;1405;p50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406" name="Google Shape;1406;p50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407" name="Google Shape;1407;p50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408" name="Google Shape;1408;p50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409" name="Google Shape;1409;p50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410" name="Google Shape;1410;p50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411" name="Google Shape;1411;p50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5928" extrusionOk="0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412" name="Google Shape;1412;p50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413" name="Google Shape;1413;p50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414" name="Google Shape;1414;p50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415" name="Google Shape;1415;p50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416" name="Google Shape;1416;p50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417" name="Google Shape;1417;p50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5929" extrusionOk="0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Antonio template">
  <a:themeElements>
    <a:clrScheme name="Custom 347">
      <a:dk1>
        <a:srgbClr val="677480"/>
      </a:dk1>
      <a:lt1>
        <a:srgbClr val="FFFFFF"/>
      </a:lt1>
      <a:dk2>
        <a:srgbClr val="2185C5"/>
      </a:dk2>
      <a:lt2>
        <a:srgbClr val="DEE2E6"/>
      </a:lt2>
      <a:accent1>
        <a:srgbClr val="2185C5"/>
      </a:accent1>
      <a:accent2>
        <a:srgbClr val="7ECEFD"/>
      </a:accent2>
      <a:accent3>
        <a:srgbClr val="F20253"/>
      </a:accent3>
      <a:accent4>
        <a:srgbClr val="FF9715"/>
      </a:accent4>
      <a:accent5>
        <a:srgbClr val="1C3AA9"/>
      </a:accent5>
      <a:accent6>
        <a:srgbClr val="97ABBC"/>
      </a:accent6>
      <a:hlink>
        <a:srgbClr val="2185C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1305</Words>
  <Application>Microsoft Office PowerPoint</Application>
  <PresentationFormat>On-screen Show (16:9)</PresentationFormat>
  <Paragraphs>251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Segoe UI Emoji</vt:lpstr>
      <vt:lpstr>Raleway</vt:lpstr>
      <vt:lpstr>Arial</vt:lpstr>
      <vt:lpstr>Montserrat</vt:lpstr>
      <vt:lpstr>Lato</vt:lpstr>
      <vt:lpstr>Antonio template</vt:lpstr>
      <vt:lpstr>Clean Coding Principles</vt:lpstr>
      <vt:lpstr>1. Meaningful Names</vt:lpstr>
      <vt:lpstr>Use Intention Revealing Names</vt:lpstr>
      <vt:lpstr>Use Intention Revealing Names Contd.</vt:lpstr>
      <vt:lpstr>Use Intention Revealing Names Contd.</vt:lpstr>
      <vt:lpstr>Use Intention Revealing Names Contd.</vt:lpstr>
      <vt:lpstr>Use Intention Revealing Names Contd.</vt:lpstr>
      <vt:lpstr>Avoid Disinformation</vt:lpstr>
      <vt:lpstr>Make Meaningful Distinctions</vt:lpstr>
      <vt:lpstr>Use Pronouncable Names</vt:lpstr>
      <vt:lpstr>Use Searchable Names</vt:lpstr>
      <vt:lpstr>Avoid Encodings – Hungarian Notation</vt:lpstr>
      <vt:lpstr>Avoid Encodings – Member Prefixes</vt:lpstr>
      <vt:lpstr>Avoid Encodings – Interfaces and Implementations</vt:lpstr>
      <vt:lpstr>Avoid Mental Mappings</vt:lpstr>
      <vt:lpstr>Class Names</vt:lpstr>
      <vt:lpstr>Method Names</vt:lpstr>
      <vt:lpstr>One word per concept</vt:lpstr>
      <vt:lpstr>Use Solution Domain Names</vt:lpstr>
      <vt:lpstr>Don’t Add Unncessary Context</vt:lpstr>
      <vt:lpstr>2. Functions</vt:lpstr>
      <vt:lpstr>SMALL!!</vt:lpstr>
      <vt:lpstr>Blocks and Indenting</vt:lpstr>
      <vt:lpstr>PowerPoint Presentation</vt:lpstr>
      <vt:lpstr>One Level of Abstraction per Function</vt:lpstr>
      <vt:lpstr>Use Descriptive Names</vt:lpstr>
      <vt:lpstr>Function Arguments/Parameters</vt:lpstr>
      <vt:lpstr>Function Arguments/Parameters</vt:lpstr>
      <vt:lpstr>Have No Side Effects</vt:lpstr>
      <vt:lpstr>Command Query Separation</vt:lpstr>
      <vt:lpstr>3. Comments</vt:lpstr>
      <vt:lpstr>PowerPoint Presentation</vt:lpstr>
      <vt:lpstr>Explain yourself in code</vt:lpstr>
      <vt:lpstr>Informative Comments</vt:lpstr>
      <vt:lpstr>Explanation of Intent</vt:lpstr>
      <vt:lpstr>TODO</vt:lpstr>
      <vt:lpstr>Amplification</vt:lpstr>
      <vt:lpstr>PowerPoint Presentation</vt:lpstr>
      <vt:lpstr>Redundant Comments</vt:lpstr>
      <vt:lpstr>Mandated Comments</vt:lpstr>
      <vt:lpstr>4. Formatting</vt:lpstr>
      <vt:lpstr>Vertical Formatting</vt:lpstr>
      <vt:lpstr>Vertical Openness between concepts</vt:lpstr>
      <vt:lpstr>Vertical Distance</vt:lpstr>
      <vt:lpstr>Horizontal Formatting</vt:lpstr>
      <vt:lpstr>Indentation</vt:lpstr>
      <vt:lpstr>Exercise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Abdullah Hamza</dc:creator>
  <cp:lastModifiedBy>Abdullah Hamza</cp:lastModifiedBy>
  <cp:revision>2</cp:revision>
  <dcterms:modified xsi:type="dcterms:W3CDTF">2022-03-07T08:02:24Z</dcterms:modified>
</cp:coreProperties>
</file>